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4AE0E5-D88C-6B45-AC7B-2D6E2CA0F12B}" v="104" dt="2026-05-09T04:23:59.214"/>
    <p1510:client id="{C454993C-BD79-1544-2124-6984D563EB07}" v="79" dt="2026-05-09T04:22:06.2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15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27B328-695B-9246-8226-D96E148C55A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571D39-F5B2-064C-8807-6E9325614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21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66873-8B27-0661-140B-F92F5D2C7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78F4F-3307-BEBF-9DBE-2363AB905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5DFAC4-9D64-182F-795C-49B97F655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A0EDF-C357-4CA9-3154-125C4FE985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682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zhiyee-lim.github.io/ecobite/app/ecobite_app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zhiyee-lim.github.io/ecobite/app/ecobite_app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9E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86000"/>
            <a:ext cx="1463040" cy="1463040"/>
          </a:xfrm>
          <a:prstGeom prst="ellipse">
            <a:avLst/>
          </a:prstGeom>
          <a:solidFill>
            <a:srgbClr val="FFF8F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1280160" y="2651760"/>
            <a:ext cx="731520" cy="731520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2743200" y="210312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endParaRPr lang="en-US" sz="8000"/>
          </a:p>
        </p:txBody>
      </p:sp>
      <p:sp>
        <p:nvSpPr>
          <p:cNvPr id="5" name="Text 3"/>
          <p:cNvSpPr/>
          <p:nvPr/>
        </p:nvSpPr>
        <p:spPr>
          <a:xfrm>
            <a:off x="2743200" y="33832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拍下剩食 · 烹出新菜 · 零浪费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2743200" y="4114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一款 AI 驱动的手机应用，将您冰箱里的剩菜剩饭变成美味新菜肴——节省食材、省钱，更守护地球，一口一口改变世界。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项目展示 · 2026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5943600" y="63093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 · 良好健康与福祉   ·   SDG 12 · 负责任的消费与生产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问题背景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食物浪费是每个家庭的无声危机</a:t>
            </a:r>
            <a:endParaRPr lang="en-US" sz="360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1.05B</a:t>
            </a:r>
            <a:endParaRPr lang="en-US" sz="4800"/>
          </a:p>
        </p:txBody>
      </p:sp>
      <p:sp>
        <p:nvSpPr>
          <p:cNvPr id="5" name="Text 3"/>
          <p:cNvSpPr/>
          <p:nvPr/>
        </p:nvSpPr>
        <p:spPr>
          <a:xfrm>
            <a:off x="338328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吨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全球每年浪费的食物（联合国环境规划署，2024）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1,800</a:t>
            </a:r>
            <a:endParaRPr lang="en-US" sz="4800"/>
          </a:p>
        </p:txBody>
      </p:sp>
      <p:sp>
        <p:nvSpPr>
          <p:cNvPr id="8" name="Text 6"/>
          <p:cNvSpPr/>
          <p:nvPr/>
        </p:nvSpPr>
        <p:spPr>
          <a:xfrm>
            <a:off x="3383280" y="3886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年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马来西亚每户家庭因食物变质造成的损失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640080" y="4846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8-10%</a:t>
            </a:r>
            <a:endParaRPr lang="en-US" sz="4800"/>
          </a:p>
        </p:txBody>
      </p:sp>
      <p:sp>
        <p:nvSpPr>
          <p:cNvPr id="11" name="Text 9"/>
          <p:cNvSpPr/>
          <p:nvPr/>
        </p:nvSpPr>
        <p:spPr>
          <a:xfrm>
            <a:off x="3383280" y="5257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的碳排放量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640080" y="56692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全球温室气体排放来自食物浪费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7315200" y="2103120"/>
            <a:ext cx="4206240" cy="4114800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768096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为什么这很重要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7680960" y="2834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"大多数家庭厨师并非故意浪费食物——他们只是想不出用冰箱里现有食材做什么菜。"</a:t>
            </a:r>
            <a:endParaRPr lang="en-US" sz="1700"/>
          </a:p>
        </p:txBody>
      </p:sp>
      <p:sp>
        <p:nvSpPr>
          <p:cNvPr id="16" name="Text 14"/>
          <p:cNvSpPr/>
          <p:nvPr/>
        </p:nvSpPr>
        <p:spPr>
          <a:xfrm>
            <a:off x="7680960" y="48463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家庭浪费可食用食物，并非出于疏忽，而是缺乏烹饪灵感和时间。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对应联合国 SDG 3 · 良好健康与福祉   +   SDG 12 · 负责任的消费与生产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我们的解决方案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 将剩食即时变成美味菜谱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拍照到上桌只需三步。AI 负责思考——您只管下厨。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586588" y="2651760"/>
            <a:ext cx="35204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586588" y="2651760"/>
            <a:ext cx="3520440" cy="109728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95234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4800"/>
          </a:p>
        </p:txBody>
      </p:sp>
      <p:sp>
        <p:nvSpPr>
          <p:cNvPr id="8" name="Text 6"/>
          <p:cNvSpPr/>
          <p:nvPr/>
        </p:nvSpPr>
        <p:spPr>
          <a:xfrm>
            <a:off x="3284068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952348" y="42062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视觉识别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952348" y="48463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拍摄冰箱照片，Claude 视觉模型自动识别每种食材，并显示可信度评分。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4335628" y="2651760"/>
            <a:ext cx="35204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Shape 10"/>
          <p:cNvSpPr/>
          <p:nvPr/>
        </p:nvSpPr>
        <p:spPr>
          <a:xfrm>
            <a:off x="4335628" y="2651760"/>
            <a:ext cx="3520440" cy="109728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470138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🍳</a:t>
            </a:r>
            <a:endParaRPr lang="en-US" sz="4800"/>
          </a:p>
        </p:txBody>
      </p:sp>
      <p:sp>
        <p:nvSpPr>
          <p:cNvPr id="14" name="Text 12"/>
          <p:cNvSpPr/>
          <p:nvPr/>
        </p:nvSpPr>
        <p:spPr>
          <a:xfrm>
            <a:off x="7033108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4701388" y="42062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智能菜谱匹配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4701388" y="48463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按食材匹配度排名，获取 4 道个性化菜肴推荐，可按菜系、时间、饮食需求筛选。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8084668" y="2651760"/>
            <a:ext cx="35204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Shape 16"/>
          <p:cNvSpPr/>
          <p:nvPr/>
        </p:nvSpPr>
        <p:spPr>
          <a:xfrm>
            <a:off x="8084668" y="2651760"/>
            <a:ext cx="3520440" cy="109728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845042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4800"/>
          </a:p>
        </p:txBody>
      </p:sp>
      <p:sp>
        <p:nvSpPr>
          <p:cNvPr id="20" name="Text 18"/>
          <p:cNvSpPr/>
          <p:nvPr/>
        </p:nvSpPr>
        <p:spPr>
          <a:xfrm>
            <a:off x="10782148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8450428" y="42062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环保足迹追踪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8450428" y="48463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查看每周挽救食材（kg）及节省金额（RM），用真实数据培养零浪费好习惯。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使用流程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从拍照到上桌，全程不到 30 秒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1112368" y="2103120"/>
            <a:ext cx="822960" cy="82296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1112368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/>
          </a:p>
        </p:txBody>
      </p:sp>
      <p:sp>
        <p:nvSpPr>
          <p:cNvPr id="6" name="Shape 4"/>
          <p:cNvSpPr/>
          <p:nvPr/>
        </p:nvSpPr>
        <p:spPr>
          <a:xfrm>
            <a:off x="2552548" y="2514600"/>
            <a:ext cx="228600" cy="0"/>
          </a:xfrm>
          <a:prstGeom prst="line">
            <a:avLst/>
          </a:prstGeom>
          <a:noFill/>
          <a:ln w="25400">
            <a:solidFill>
              <a:srgbClr val="97C459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449428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拍照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540868" y="36118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打开相机，拍摄剩菜剩饭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3398368" y="2103120"/>
            <a:ext cx="822960" cy="82296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3398368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/>
          </a:p>
        </p:txBody>
      </p:sp>
      <p:sp>
        <p:nvSpPr>
          <p:cNvPr id="11" name="Shape 9"/>
          <p:cNvSpPr/>
          <p:nvPr/>
        </p:nvSpPr>
        <p:spPr>
          <a:xfrm>
            <a:off x="4838548" y="2514600"/>
            <a:ext cx="228600" cy="0"/>
          </a:xfrm>
          <a:prstGeom prst="line">
            <a:avLst/>
          </a:prstGeom>
          <a:noFill/>
          <a:ln w="25400">
            <a:solidFill>
              <a:srgbClr val="97C459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2735428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2826868" y="36118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识别食材并给出可信度评分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5684368" y="2103120"/>
            <a:ext cx="822960" cy="82296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5684368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/>
          </a:p>
        </p:txBody>
      </p:sp>
      <p:sp>
        <p:nvSpPr>
          <p:cNvPr id="16" name="Shape 14"/>
          <p:cNvSpPr/>
          <p:nvPr/>
        </p:nvSpPr>
        <p:spPr>
          <a:xfrm>
            <a:off x="7124548" y="2514600"/>
            <a:ext cx="228600" cy="0"/>
          </a:xfrm>
          <a:prstGeom prst="line">
            <a:avLst/>
          </a:prstGeom>
          <a:noFill/>
          <a:ln w="25400">
            <a:solidFill>
              <a:srgbClr val="97C459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5021428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调整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5112868" y="36118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编辑食材标签，设置偏好（素食、清真等）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7970368" y="2103120"/>
            <a:ext cx="822960" cy="82296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7970368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/>
          </a:p>
        </p:txBody>
      </p:sp>
      <p:sp>
        <p:nvSpPr>
          <p:cNvPr id="21" name="Shape 19"/>
          <p:cNvSpPr/>
          <p:nvPr/>
        </p:nvSpPr>
        <p:spPr>
          <a:xfrm>
            <a:off x="9410548" y="2514600"/>
            <a:ext cx="228600" cy="0"/>
          </a:xfrm>
          <a:prstGeom prst="line">
            <a:avLst/>
          </a:prstGeom>
          <a:noFill/>
          <a:ln w="25400">
            <a:solidFill>
              <a:srgbClr val="97C459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7307428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匹配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7398868" y="36118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获取 4 道带匹配评分的菜谱推荐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10256368" y="2103120"/>
            <a:ext cx="822960" cy="82296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10256368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/>
          </a:p>
        </p:txBody>
      </p:sp>
      <p:sp>
        <p:nvSpPr>
          <p:cNvPr id="26" name="Text 24"/>
          <p:cNvSpPr/>
          <p:nvPr/>
        </p:nvSpPr>
        <p:spPr>
          <a:xfrm>
            <a:off x="9593428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下厨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684868" y="36118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分步骤烹饪指导，保存至菜谱本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640080" y="4937760"/>
            <a:ext cx="10972800" cy="1280160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9" name="Text 27"/>
          <p:cNvSpPr/>
          <p:nvPr/>
        </p:nvSpPr>
        <p:spPr>
          <a:xfrm>
            <a:off x="914400" y="5120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现场演示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914400" y="5394960"/>
            <a:ext cx="10164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 err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r>
              <a:rPr lang="en-US" sz="18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已完全可用</a:t>
            </a:r>
            <a:r>
              <a:rPr lang="en-US" sz="18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</a:t>
            </a:r>
            <a:r>
              <a:rPr lang="en-US" sz="1800" b="1" dirty="0" err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立即体验</a:t>
            </a:r>
            <a:r>
              <a:rPr lang="en-US" sz="18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</a:t>
            </a:r>
            <a:r>
              <a:rPr lang="en-US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 https://zhiyee-lim.github.io/ecobite/app/ecobite_app.html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双语（中文 / English）· 真实 Claude 视觉 API · 8 个头像 · 20 道预置菜谱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应用实拍演示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五大界面，专为家庭主妇设计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86588" y="1920240"/>
            <a:ext cx="2057400" cy="41148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59740" y="2057400"/>
            <a:ext cx="1911096" cy="3840480"/>
          </a:xfrm>
          <a:prstGeom prst="rect">
            <a:avLst/>
          </a:prstGeom>
          <a:solidFill>
            <a:srgbClr val="FFF8F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659740" y="2057400"/>
            <a:ext cx="1911096" cy="164592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659740" y="2221992"/>
            <a:ext cx="1911096" cy="4114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659740" y="2221992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769468" y="2834640"/>
            <a:ext cx="1691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860908" y="299923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1043788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问候语 + 头像</a:t>
            </a:r>
            <a:endParaRPr lang="en-US" sz="800"/>
          </a:p>
        </p:txBody>
      </p:sp>
      <p:sp>
        <p:nvSpPr>
          <p:cNvPr id="12" name="Shape 10"/>
          <p:cNvSpPr/>
          <p:nvPr/>
        </p:nvSpPr>
        <p:spPr>
          <a:xfrm>
            <a:off x="769468" y="3429000"/>
            <a:ext cx="1691640" cy="457200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860908" y="359359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1043788" y="3474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每周环保卡片</a:t>
            </a:r>
            <a:endParaRPr lang="en-US" sz="800"/>
          </a:p>
        </p:txBody>
      </p:sp>
      <p:sp>
        <p:nvSpPr>
          <p:cNvPr id="15" name="Shape 13"/>
          <p:cNvSpPr/>
          <p:nvPr/>
        </p:nvSpPr>
        <p:spPr>
          <a:xfrm>
            <a:off x="769468" y="4023360"/>
            <a:ext cx="1691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860908" y="418795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1043788" y="4069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拍照按钮</a:t>
            </a:r>
            <a:endParaRPr lang="en-US" sz="800"/>
          </a:p>
        </p:txBody>
      </p:sp>
      <p:sp>
        <p:nvSpPr>
          <p:cNvPr id="18" name="Shape 16"/>
          <p:cNvSpPr/>
          <p:nvPr/>
        </p:nvSpPr>
        <p:spPr>
          <a:xfrm>
            <a:off x="769468" y="4617720"/>
            <a:ext cx="1691640" cy="457200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9" name="Shape 17"/>
          <p:cNvSpPr/>
          <p:nvPr/>
        </p:nvSpPr>
        <p:spPr>
          <a:xfrm>
            <a:off x="860908" y="478231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1043788" y="4663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最近烹饪记录</a:t>
            </a:r>
            <a:endParaRPr lang="en-US" sz="800"/>
          </a:p>
        </p:txBody>
      </p:sp>
      <p:sp>
        <p:nvSpPr>
          <p:cNvPr id="21" name="Shape 19"/>
          <p:cNvSpPr/>
          <p:nvPr/>
        </p:nvSpPr>
        <p:spPr>
          <a:xfrm>
            <a:off x="952348" y="5532120"/>
            <a:ext cx="1325880" cy="54864"/>
          </a:xfrm>
          <a:prstGeom prst="rect">
            <a:avLst/>
          </a:prstGeom>
          <a:solidFill>
            <a:srgbClr val="6B6B6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586588" y="6172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2826868" y="1920240"/>
            <a:ext cx="2057400" cy="41148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Shape 22"/>
          <p:cNvSpPr/>
          <p:nvPr/>
        </p:nvSpPr>
        <p:spPr>
          <a:xfrm>
            <a:off x="2900020" y="2057400"/>
            <a:ext cx="1911096" cy="3840480"/>
          </a:xfrm>
          <a:prstGeom prst="rect">
            <a:avLst/>
          </a:prstGeom>
          <a:solidFill>
            <a:srgbClr val="FFF8F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2900020" y="2057400"/>
            <a:ext cx="1911096" cy="164592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Shape 24"/>
          <p:cNvSpPr/>
          <p:nvPr/>
        </p:nvSpPr>
        <p:spPr>
          <a:xfrm>
            <a:off x="2900020" y="2221992"/>
            <a:ext cx="1911096" cy="4114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2900020" y="2221992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拍照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3009748" y="2834640"/>
            <a:ext cx="1691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9" name="Shape 27"/>
          <p:cNvSpPr/>
          <p:nvPr/>
        </p:nvSpPr>
        <p:spPr>
          <a:xfrm>
            <a:off x="3101188" y="299923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3284068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图片上传</a:t>
            </a:r>
            <a:endParaRPr lang="en-US" sz="800"/>
          </a:p>
        </p:txBody>
      </p:sp>
      <p:sp>
        <p:nvSpPr>
          <p:cNvPr id="31" name="Shape 29"/>
          <p:cNvSpPr/>
          <p:nvPr/>
        </p:nvSpPr>
        <p:spPr>
          <a:xfrm>
            <a:off x="3009748" y="3429000"/>
            <a:ext cx="1691640" cy="457200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2" name="Shape 30"/>
          <p:cNvSpPr/>
          <p:nvPr/>
        </p:nvSpPr>
        <p:spPr>
          <a:xfrm>
            <a:off x="3101188" y="359359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3" name="Text 31"/>
          <p:cNvSpPr/>
          <p:nvPr/>
        </p:nvSpPr>
        <p:spPr>
          <a:xfrm>
            <a:off x="3284068" y="3474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扫描识别</a:t>
            </a:r>
            <a:endParaRPr lang="en-US" sz="800"/>
          </a:p>
        </p:txBody>
      </p:sp>
      <p:sp>
        <p:nvSpPr>
          <p:cNvPr id="34" name="Shape 32"/>
          <p:cNvSpPr/>
          <p:nvPr/>
        </p:nvSpPr>
        <p:spPr>
          <a:xfrm>
            <a:off x="3009748" y="4023360"/>
            <a:ext cx="1691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5" name="Shape 33"/>
          <p:cNvSpPr/>
          <p:nvPr/>
        </p:nvSpPr>
        <p:spPr>
          <a:xfrm>
            <a:off x="3101188" y="418795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3284068" y="4069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重拍控制</a:t>
            </a:r>
            <a:endParaRPr lang="en-US" sz="800"/>
          </a:p>
        </p:txBody>
      </p:sp>
      <p:sp>
        <p:nvSpPr>
          <p:cNvPr id="37" name="Shape 35"/>
          <p:cNvSpPr/>
          <p:nvPr/>
        </p:nvSpPr>
        <p:spPr>
          <a:xfrm>
            <a:off x="3009748" y="4617720"/>
            <a:ext cx="1691640" cy="457200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8" name="Shape 36"/>
          <p:cNvSpPr/>
          <p:nvPr/>
        </p:nvSpPr>
        <p:spPr>
          <a:xfrm>
            <a:off x="3101188" y="478231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9" name="Text 37"/>
          <p:cNvSpPr/>
          <p:nvPr/>
        </p:nvSpPr>
        <p:spPr>
          <a:xfrm>
            <a:off x="3284068" y="4663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使用小贴士</a:t>
            </a:r>
            <a:endParaRPr lang="en-US" sz="800"/>
          </a:p>
        </p:txBody>
      </p:sp>
      <p:sp>
        <p:nvSpPr>
          <p:cNvPr id="40" name="Shape 38"/>
          <p:cNvSpPr/>
          <p:nvPr/>
        </p:nvSpPr>
        <p:spPr>
          <a:xfrm>
            <a:off x="3192628" y="5532120"/>
            <a:ext cx="1325880" cy="54864"/>
          </a:xfrm>
          <a:prstGeom prst="rect">
            <a:avLst/>
          </a:prstGeom>
          <a:solidFill>
            <a:srgbClr val="6B6B6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1" name="Text 39"/>
          <p:cNvSpPr/>
          <p:nvPr/>
        </p:nvSpPr>
        <p:spPr>
          <a:xfrm>
            <a:off x="2826868" y="6172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/>
          </a:p>
        </p:txBody>
      </p:sp>
      <p:sp>
        <p:nvSpPr>
          <p:cNvPr id="42" name="Shape 40"/>
          <p:cNvSpPr/>
          <p:nvPr/>
        </p:nvSpPr>
        <p:spPr>
          <a:xfrm>
            <a:off x="5067148" y="1920240"/>
            <a:ext cx="2057400" cy="41148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3" name="Shape 41"/>
          <p:cNvSpPr/>
          <p:nvPr/>
        </p:nvSpPr>
        <p:spPr>
          <a:xfrm>
            <a:off x="5140300" y="2057400"/>
            <a:ext cx="1911096" cy="3840480"/>
          </a:xfrm>
          <a:prstGeom prst="rect">
            <a:avLst/>
          </a:prstGeom>
          <a:solidFill>
            <a:srgbClr val="FFF8F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4" name="Shape 42"/>
          <p:cNvSpPr/>
          <p:nvPr/>
        </p:nvSpPr>
        <p:spPr>
          <a:xfrm>
            <a:off x="5140300" y="2057400"/>
            <a:ext cx="1911096" cy="164592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5" name="Shape 43"/>
          <p:cNvSpPr/>
          <p:nvPr/>
        </p:nvSpPr>
        <p:spPr>
          <a:xfrm>
            <a:off x="5140300" y="2221992"/>
            <a:ext cx="1911096" cy="4114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6" name="Text 44"/>
          <p:cNvSpPr/>
          <p:nvPr/>
        </p:nvSpPr>
        <p:spPr>
          <a:xfrm>
            <a:off x="5140300" y="2221992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食材清单</a:t>
            </a:r>
            <a:endParaRPr lang="en-US" sz="1100"/>
          </a:p>
        </p:txBody>
      </p:sp>
      <p:sp>
        <p:nvSpPr>
          <p:cNvPr id="47" name="Shape 45"/>
          <p:cNvSpPr/>
          <p:nvPr/>
        </p:nvSpPr>
        <p:spPr>
          <a:xfrm>
            <a:off x="5250028" y="2834640"/>
            <a:ext cx="1691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8" name="Shape 46"/>
          <p:cNvSpPr/>
          <p:nvPr/>
        </p:nvSpPr>
        <p:spPr>
          <a:xfrm>
            <a:off x="5341468" y="299923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9" name="Text 47"/>
          <p:cNvSpPr/>
          <p:nvPr/>
        </p:nvSpPr>
        <p:spPr>
          <a:xfrm>
            <a:off x="5524348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识别标签</a:t>
            </a:r>
            <a:endParaRPr lang="en-US" sz="800"/>
          </a:p>
        </p:txBody>
      </p:sp>
      <p:sp>
        <p:nvSpPr>
          <p:cNvPr id="50" name="Shape 48"/>
          <p:cNvSpPr/>
          <p:nvPr/>
        </p:nvSpPr>
        <p:spPr>
          <a:xfrm>
            <a:off x="5250028" y="3429000"/>
            <a:ext cx="1691640" cy="457200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1" name="Shape 49"/>
          <p:cNvSpPr/>
          <p:nvPr/>
        </p:nvSpPr>
        <p:spPr>
          <a:xfrm>
            <a:off x="5341468" y="359359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2" name="Text 50"/>
          <p:cNvSpPr/>
          <p:nvPr/>
        </p:nvSpPr>
        <p:spPr>
          <a:xfrm>
            <a:off x="5524348" y="3474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可信度指示点</a:t>
            </a:r>
            <a:endParaRPr lang="en-US" sz="800"/>
          </a:p>
        </p:txBody>
      </p:sp>
      <p:sp>
        <p:nvSpPr>
          <p:cNvPr id="53" name="Shape 51"/>
          <p:cNvSpPr/>
          <p:nvPr/>
        </p:nvSpPr>
        <p:spPr>
          <a:xfrm>
            <a:off x="5250028" y="4023360"/>
            <a:ext cx="1691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4" name="Shape 52"/>
          <p:cNvSpPr/>
          <p:nvPr/>
        </p:nvSpPr>
        <p:spPr>
          <a:xfrm>
            <a:off x="5341468" y="418795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5" name="Text 53"/>
          <p:cNvSpPr/>
          <p:nvPr/>
        </p:nvSpPr>
        <p:spPr>
          <a:xfrm>
            <a:off x="5524348" y="4069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手动添加</a:t>
            </a:r>
            <a:endParaRPr lang="en-US" sz="800"/>
          </a:p>
        </p:txBody>
      </p:sp>
      <p:sp>
        <p:nvSpPr>
          <p:cNvPr id="56" name="Shape 54"/>
          <p:cNvSpPr/>
          <p:nvPr/>
        </p:nvSpPr>
        <p:spPr>
          <a:xfrm>
            <a:off x="5250028" y="4617720"/>
            <a:ext cx="1691640" cy="457200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7" name="Shape 55"/>
          <p:cNvSpPr/>
          <p:nvPr/>
        </p:nvSpPr>
        <p:spPr>
          <a:xfrm>
            <a:off x="5341468" y="478231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8" name="Text 56"/>
          <p:cNvSpPr/>
          <p:nvPr/>
        </p:nvSpPr>
        <p:spPr>
          <a:xfrm>
            <a:off x="5524348" y="4663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饮食偏好</a:t>
            </a:r>
            <a:endParaRPr lang="en-US" sz="800"/>
          </a:p>
        </p:txBody>
      </p:sp>
      <p:sp>
        <p:nvSpPr>
          <p:cNvPr id="59" name="Shape 57"/>
          <p:cNvSpPr/>
          <p:nvPr/>
        </p:nvSpPr>
        <p:spPr>
          <a:xfrm>
            <a:off x="5432908" y="5532120"/>
            <a:ext cx="1325880" cy="54864"/>
          </a:xfrm>
          <a:prstGeom prst="rect">
            <a:avLst/>
          </a:prstGeom>
          <a:solidFill>
            <a:srgbClr val="6B6B6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0" name="Text 58"/>
          <p:cNvSpPr/>
          <p:nvPr/>
        </p:nvSpPr>
        <p:spPr>
          <a:xfrm>
            <a:off x="5067148" y="6172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/>
          </a:p>
        </p:txBody>
      </p:sp>
      <p:sp>
        <p:nvSpPr>
          <p:cNvPr id="61" name="Shape 59"/>
          <p:cNvSpPr/>
          <p:nvPr/>
        </p:nvSpPr>
        <p:spPr>
          <a:xfrm>
            <a:off x="7307428" y="1920240"/>
            <a:ext cx="2057400" cy="41148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2" name="Shape 60"/>
          <p:cNvSpPr/>
          <p:nvPr/>
        </p:nvSpPr>
        <p:spPr>
          <a:xfrm>
            <a:off x="7380580" y="2057400"/>
            <a:ext cx="1911096" cy="3840480"/>
          </a:xfrm>
          <a:prstGeom prst="rect">
            <a:avLst/>
          </a:prstGeom>
          <a:solidFill>
            <a:srgbClr val="FFF8F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3" name="Shape 61"/>
          <p:cNvSpPr/>
          <p:nvPr/>
        </p:nvSpPr>
        <p:spPr>
          <a:xfrm>
            <a:off x="7380580" y="2057400"/>
            <a:ext cx="1911096" cy="164592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4" name="Shape 62"/>
          <p:cNvSpPr/>
          <p:nvPr/>
        </p:nvSpPr>
        <p:spPr>
          <a:xfrm>
            <a:off x="7380580" y="2221992"/>
            <a:ext cx="1911096" cy="4114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5" name="Text 63"/>
          <p:cNvSpPr/>
          <p:nvPr/>
        </p:nvSpPr>
        <p:spPr>
          <a:xfrm>
            <a:off x="7380580" y="2221992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菜谱推荐</a:t>
            </a:r>
            <a:endParaRPr lang="en-US" sz="1100"/>
          </a:p>
        </p:txBody>
      </p:sp>
      <p:sp>
        <p:nvSpPr>
          <p:cNvPr id="66" name="Shape 64"/>
          <p:cNvSpPr/>
          <p:nvPr/>
        </p:nvSpPr>
        <p:spPr>
          <a:xfrm>
            <a:off x="7490308" y="2834640"/>
            <a:ext cx="1691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7" name="Shape 65"/>
          <p:cNvSpPr/>
          <p:nvPr/>
        </p:nvSpPr>
        <p:spPr>
          <a:xfrm>
            <a:off x="7581748" y="299923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8" name="Text 66"/>
          <p:cNvSpPr/>
          <p:nvPr/>
        </p:nvSpPr>
        <p:spPr>
          <a:xfrm>
            <a:off x="7764628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道 AI 推荐</a:t>
            </a:r>
            <a:endParaRPr lang="en-US" sz="800"/>
          </a:p>
        </p:txBody>
      </p:sp>
      <p:sp>
        <p:nvSpPr>
          <p:cNvPr id="69" name="Shape 67"/>
          <p:cNvSpPr/>
          <p:nvPr/>
        </p:nvSpPr>
        <p:spPr>
          <a:xfrm>
            <a:off x="7490308" y="3429000"/>
            <a:ext cx="1691640" cy="457200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0" name="Shape 68"/>
          <p:cNvSpPr/>
          <p:nvPr/>
        </p:nvSpPr>
        <p:spPr>
          <a:xfrm>
            <a:off x="7581748" y="359359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1" name="Text 69"/>
          <p:cNvSpPr/>
          <p:nvPr/>
        </p:nvSpPr>
        <p:spPr>
          <a:xfrm>
            <a:off x="7764628" y="3474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匹配百分比</a:t>
            </a:r>
            <a:endParaRPr lang="en-US" sz="800"/>
          </a:p>
        </p:txBody>
      </p:sp>
      <p:sp>
        <p:nvSpPr>
          <p:cNvPr id="72" name="Shape 70"/>
          <p:cNvSpPr/>
          <p:nvPr/>
        </p:nvSpPr>
        <p:spPr>
          <a:xfrm>
            <a:off x="7490308" y="4023360"/>
            <a:ext cx="1691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3" name="Shape 71"/>
          <p:cNvSpPr/>
          <p:nvPr/>
        </p:nvSpPr>
        <p:spPr>
          <a:xfrm>
            <a:off x="7581748" y="418795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4" name="Text 72"/>
          <p:cNvSpPr/>
          <p:nvPr/>
        </p:nvSpPr>
        <p:spPr>
          <a:xfrm>
            <a:off x="7764628" y="4069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筛选标签</a:t>
            </a:r>
            <a:endParaRPr lang="en-US" sz="800"/>
          </a:p>
        </p:txBody>
      </p:sp>
      <p:sp>
        <p:nvSpPr>
          <p:cNvPr id="75" name="Shape 73"/>
          <p:cNvSpPr/>
          <p:nvPr/>
        </p:nvSpPr>
        <p:spPr>
          <a:xfrm>
            <a:off x="7490308" y="4617720"/>
            <a:ext cx="1691640" cy="457200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6" name="Shape 74"/>
          <p:cNvSpPr/>
          <p:nvPr/>
        </p:nvSpPr>
        <p:spPr>
          <a:xfrm>
            <a:off x="7581748" y="478231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7" name="Text 75"/>
          <p:cNvSpPr/>
          <p:nvPr/>
        </p:nvSpPr>
        <p:spPr>
          <a:xfrm>
            <a:off x="7764628" y="4663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真实菜肴图片</a:t>
            </a:r>
            <a:endParaRPr lang="en-US" sz="800"/>
          </a:p>
        </p:txBody>
      </p:sp>
      <p:sp>
        <p:nvSpPr>
          <p:cNvPr id="78" name="Shape 76"/>
          <p:cNvSpPr/>
          <p:nvPr/>
        </p:nvSpPr>
        <p:spPr>
          <a:xfrm>
            <a:off x="7673188" y="5532120"/>
            <a:ext cx="1325880" cy="54864"/>
          </a:xfrm>
          <a:prstGeom prst="rect">
            <a:avLst/>
          </a:prstGeom>
          <a:solidFill>
            <a:srgbClr val="6B6B6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9" name="Text 77"/>
          <p:cNvSpPr/>
          <p:nvPr/>
        </p:nvSpPr>
        <p:spPr>
          <a:xfrm>
            <a:off x="7307428" y="6172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/>
          </a:p>
        </p:txBody>
      </p:sp>
      <p:sp>
        <p:nvSpPr>
          <p:cNvPr id="80" name="Shape 78"/>
          <p:cNvSpPr/>
          <p:nvPr/>
        </p:nvSpPr>
        <p:spPr>
          <a:xfrm>
            <a:off x="9547708" y="1920240"/>
            <a:ext cx="2057400" cy="41148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1" name="Shape 79"/>
          <p:cNvSpPr/>
          <p:nvPr/>
        </p:nvSpPr>
        <p:spPr>
          <a:xfrm>
            <a:off x="9620860" y="2057400"/>
            <a:ext cx="1911096" cy="3840480"/>
          </a:xfrm>
          <a:prstGeom prst="rect">
            <a:avLst/>
          </a:prstGeom>
          <a:solidFill>
            <a:srgbClr val="FFF8F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2" name="Shape 80"/>
          <p:cNvSpPr/>
          <p:nvPr/>
        </p:nvSpPr>
        <p:spPr>
          <a:xfrm>
            <a:off x="9620860" y="2057400"/>
            <a:ext cx="1911096" cy="164592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3" name="Shape 81"/>
          <p:cNvSpPr/>
          <p:nvPr/>
        </p:nvSpPr>
        <p:spPr>
          <a:xfrm>
            <a:off x="9620860" y="2221992"/>
            <a:ext cx="1911096" cy="4114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4" name="Text 82"/>
          <p:cNvSpPr/>
          <p:nvPr/>
        </p:nvSpPr>
        <p:spPr>
          <a:xfrm>
            <a:off x="9620860" y="2221992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菜谱详情</a:t>
            </a:r>
            <a:endParaRPr lang="en-US" sz="1100"/>
          </a:p>
        </p:txBody>
      </p:sp>
      <p:sp>
        <p:nvSpPr>
          <p:cNvPr id="85" name="Shape 83"/>
          <p:cNvSpPr/>
          <p:nvPr/>
        </p:nvSpPr>
        <p:spPr>
          <a:xfrm>
            <a:off x="9730588" y="2834640"/>
            <a:ext cx="1691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6" name="Shape 84"/>
          <p:cNvSpPr/>
          <p:nvPr/>
        </p:nvSpPr>
        <p:spPr>
          <a:xfrm>
            <a:off x="9822028" y="299923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7" name="Text 85"/>
          <p:cNvSpPr/>
          <p:nvPr/>
        </p:nvSpPr>
        <p:spPr>
          <a:xfrm>
            <a:off x="10004908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完整烹饪步骤</a:t>
            </a:r>
            <a:endParaRPr lang="en-US" sz="800"/>
          </a:p>
        </p:txBody>
      </p:sp>
      <p:sp>
        <p:nvSpPr>
          <p:cNvPr id="88" name="Shape 86"/>
          <p:cNvSpPr/>
          <p:nvPr/>
        </p:nvSpPr>
        <p:spPr>
          <a:xfrm>
            <a:off x="9730588" y="3429000"/>
            <a:ext cx="1691640" cy="457200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9" name="Shape 87"/>
          <p:cNvSpPr/>
          <p:nvPr/>
        </p:nvSpPr>
        <p:spPr>
          <a:xfrm>
            <a:off x="9822028" y="359359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0" name="Text 88"/>
          <p:cNvSpPr/>
          <p:nvPr/>
        </p:nvSpPr>
        <p:spPr>
          <a:xfrm>
            <a:off x="10004908" y="3474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环保影响</a:t>
            </a:r>
            <a:endParaRPr lang="en-US" sz="800"/>
          </a:p>
        </p:txBody>
      </p:sp>
      <p:sp>
        <p:nvSpPr>
          <p:cNvPr id="91" name="Shape 89"/>
          <p:cNvSpPr/>
          <p:nvPr/>
        </p:nvSpPr>
        <p:spPr>
          <a:xfrm>
            <a:off x="9730588" y="4023360"/>
            <a:ext cx="1691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2" name="Shape 90"/>
          <p:cNvSpPr/>
          <p:nvPr/>
        </p:nvSpPr>
        <p:spPr>
          <a:xfrm>
            <a:off x="9822028" y="418795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3" name="Text 91"/>
          <p:cNvSpPr/>
          <p:nvPr/>
        </p:nvSpPr>
        <p:spPr>
          <a:xfrm>
            <a:off x="10004908" y="4069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购物清单</a:t>
            </a:r>
            <a:endParaRPr lang="en-US" sz="800"/>
          </a:p>
        </p:txBody>
      </p:sp>
      <p:sp>
        <p:nvSpPr>
          <p:cNvPr id="94" name="Shape 92"/>
          <p:cNvSpPr/>
          <p:nvPr/>
        </p:nvSpPr>
        <p:spPr>
          <a:xfrm>
            <a:off x="9730588" y="4617720"/>
            <a:ext cx="1691640" cy="457200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5" name="Shape 93"/>
          <p:cNvSpPr/>
          <p:nvPr/>
        </p:nvSpPr>
        <p:spPr>
          <a:xfrm>
            <a:off x="9822028" y="478231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6" name="Text 94"/>
          <p:cNvSpPr/>
          <p:nvPr/>
        </p:nvSpPr>
        <p:spPr>
          <a:xfrm>
            <a:off x="10004908" y="4663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 / 分享</a:t>
            </a:r>
            <a:endParaRPr lang="en-US" sz="800"/>
          </a:p>
        </p:txBody>
      </p:sp>
      <p:sp>
        <p:nvSpPr>
          <p:cNvPr id="97" name="Shape 95"/>
          <p:cNvSpPr/>
          <p:nvPr/>
        </p:nvSpPr>
        <p:spPr>
          <a:xfrm>
            <a:off x="9913468" y="5532120"/>
            <a:ext cx="1325880" cy="54864"/>
          </a:xfrm>
          <a:prstGeom prst="rect">
            <a:avLst/>
          </a:prstGeom>
          <a:solidFill>
            <a:srgbClr val="6B6B6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8" name="Text 96"/>
          <p:cNvSpPr/>
          <p:nvPr/>
        </p:nvSpPr>
        <p:spPr>
          <a:xfrm>
            <a:off x="9547708" y="6172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/>
          </a:p>
        </p:txBody>
      </p:sp>
      <p:sp>
        <p:nvSpPr>
          <p:cNvPr id="99" name="Text 97"/>
          <p:cNvSpPr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endParaRPr lang="en-US" sz="900"/>
          </a:p>
        </p:txBody>
      </p:sp>
      <p:sp>
        <p:nvSpPr>
          <p:cNvPr id="100" name="Text 9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受益群体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真实用户，可量化的影响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谁从中获益</a:t>
            </a:r>
            <a:endParaRPr lang="en-US" sz="180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212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91440" cy="10972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家庭主妇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每日下厨、精打细算的家庭煮妇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马来西亚 1000 万+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5212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91440" cy="10972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91440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上班族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91440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时间有限，追求快捷健康饮食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9144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万+ 城市马来西亚人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5212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91440" cy="10972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914400" y="5074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具有环保意识的学生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914400" y="5440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希望在有限预算下践行可持续生活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91440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万大专院校学生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640080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每户家庭 / 每年</a:t>
            </a:r>
            <a:endParaRPr lang="en-US" sz="1800"/>
          </a:p>
        </p:txBody>
      </p:sp>
      <p:sp>
        <p:nvSpPr>
          <p:cNvPr id="21" name="Shape 19"/>
          <p:cNvSpPr/>
          <p:nvPr/>
        </p:nvSpPr>
        <p:spPr>
          <a:xfrm>
            <a:off x="6400800" y="2377440"/>
            <a:ext cx="5120640" cy="1097280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6583680" y="2468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1,200</a:t>
            </a:r>
            <a:endParaRPr lang="en-US" sz="3600"/>
          </a:p>
        </p:txBody>
      </p:sp>
      <p:sp>
        <p:nvSpPr>
          <p:cNvPr id="23" name="Text 21"/>
          <p:cNvSpPr/>
          <p:nvPr/>
        </p:nvSpPr>
        <p:spPr>
          <a:xfrm>
            <a:off x="9509760" y="2468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杂货费用节省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6400800" y="3657600"/>
            <a:ext cx="5120640" cy="1097280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6583680" y="3749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kg</a:t>
            </a:r>
            <a:endParaRPr lang="en-US" sz="3600"/>
          </a:p>
        </p:txBody>
      </p:sp>
      <p:sp>
        <p:nvSpPr>
          <p:cNvPr id="26" name="Text 24"/>
          <p:cNvSpPr/>
          <p:nvPr/>
        </p:nvSpPr>
        <p:spPr>
          <a:xfrm>
            <a:off x="9509760" y="3749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挽救食材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6400800" y="4937760"/>
            <a:ext cx="5120640" cy="1097280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6583680" y="5029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kg</a:t>
            </a:r>
            <a:endParaRPr lang="en-US" sz="3600"/>
          </a:p>
        </p:txBody>
      </p:sp>
      <p:sp>
        <p:nvSpPr>
          <p:cNvPr id="29" name="Text 27"/>
          <p:cNvSpPr/>
          <p:nvPr/>
        </p:nvSpPr>
        <p:spPr>
          <a:xfrm>
            <a:off x="9509760" y="5029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减少碳排放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风险与应对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我们认真思考了可能出现的问题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45720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6126480" y="1920240"/>
            <a:ext cx="5422392" cy="4572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630936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应对措施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534924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误识食材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126480" y="2377440"/>
            <a:ext cx="5422392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6309360" y="24231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向用户显示可信度评分；标签可点击删除；始终支持手动输入补充。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5349240" cy="777240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822960" y="32004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成本随使用量增长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6126480" y="3154680"/>
            <a:ext cx="5422392" cy="777240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6309360" y="32004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缓存用户重复识别结果；提供离线备用菜谱库；MVP 后推出免费增值模式。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534924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822960" y="39776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冰箱照片的隐私顾虑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6126480" y="3931920"/>
            <a:ext cx="5422392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6309360" y="3977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照片在内存中处理，不存储于服务器；个人数据保存在 localStorage；完全自愿选择。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5349240" cy="777240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822960" y="47548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马来西亚菜谱覆盖有限</a:t>
            </a:r>
            <a:endParaRPr lang="en-US" sz="1300"/>
          </a:p>
        </p:txBody>
      </p:sp>
      <p:sp>
        <p:nvSpPr>
          <p:cNvPr id="22" name="Shape 20"/>
          <p:cNvSpPr/>
          <p:nvPr/>
        </p:nvSpPr>
        <p:spPr>
          <a:xfrm>
            <a:off x="6126480" y="4709160"/>
            <a:ext cx="5422392" cy="777240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6309360" y="47548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与本地美食博主合作；每季度扩充菜谱库；开放用户提交家庭菜谱。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534924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822960" y="55321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用户可能无法长期改变习惯</a:t>
            </a:r>
            <a:endParaRPr lang="en-US" sz="1300"/>
          </a:p>
        </p:txBody>
      </p:sp>
      <p:sp>
        <p:nvSpPr>
          <p:cNvPr id="26" name="Shape 24"/>
          <p:cNvSpPr/>
          <p:nvPr/>
        </p:nvSpPr>
        <p:spPr>
          <a:xfrm>
            <a:off x="6126480" y="5486400"/>
            <a:ext cx="5422392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6309360" y="55321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每周环保成效仪表板；游戏化连续记录；家庭共享排行榜促进持续参与。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下一步计划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我们的前进方向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454000" y="2011680"/>
            <a:ext cx="26974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454000" y="2011680"/>
            <a:ext cx="2697480" cy="10058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682600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68260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内测发布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728320" y="32918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名马来西亚主妇测试用户</a:t>
            </a:r>
            <a:endParaRPr lang="en-US" sz="110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利用真实照片提升 AI 识别精度</a:t>
            </a:r>
            <a:endParaRPr lang="en-US" sz="110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添加马来语翻译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3316072" y="2011680"/>
            <a:ext cx="26974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3316072" y="2011680"/>
            <a:ext cx="2697480" cy="10058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3544672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3544672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正式上线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3590392" y="32918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上架 Google Play 及 App Store</a:t>
            </a:r>
            <a:endParaRPr lang="en-US" sz="110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家庭 / 小组菜谱分享功能</a:t>
            </a:r>
            <a:endParaRPr lang="en-US" sz="110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清真认证菜谱筛选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6178144" y="2011680"/>
            <a:ext cx="26974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6178144" y="2011680"/>
            <a:ext cx="2697480" cy="10058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6406744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6406744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合作拓展阶段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6452464" y="32918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Tesco / Lotus's 超市整合</a:t>
            </a:r>
            <a:endParaRPr lang="en-US" sz="110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与本地美食博主合作</a:t>
            </a:r>
            <a:endParaRPr lang="en-US" sz="110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社区用户菜谱投稿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9040216" y="2011680"/>
            <a:ext cx="26974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Shape 18"/>
          <p:cNvSpPr/>
          <p:nvPr/>
        </p:nvSpPr>
        <p:spPr>
          <a:xfrm>
            <a:off x="9040216" y="2011680"/>
            <a:ext cx="2697480" cy="10058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9268816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9268816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扩展至东南亚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9314536" y="32918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扩展至印度尼西亚和菲律宾</a:t>
            </a:r>
            <a:endParaRPr lang="en-US" sz="110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营养建议功能（SDG 3）</a:t>
            </a:r>
            <a:endParaRPr lang="en-US" sz="110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与学校及非政府组织合作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市场推广策略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如何在第一年触达 10 万个马来西亚家庭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4000" y="1783080"/>
            <a:ext cx="269748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454000" y="1783080"/>
            <a:ext cx="2697480" cy="91440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6826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3200"/>
          </a:p>
        </p:txBody>
      </p:sp>
      <p:sp>
        <p:nvSpPr>
          <p:cNvPr id="7" name="Text 5"/>
          <p:cNvSpPr/>
          <p:nvPr/>
        </p:nvSpPr>
        <p:spPr>
          <a:xfrm>
            <a:off x="2511400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68260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社交媒体与网红营销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682600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/ Instagram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682600" y="34290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20 位家庭烹饪网红（如 Aunty Aini、Sarah Cooks）合作，每日发布「拍照下厨」短视频。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682600" y="4251960"/>
            <a:ext cx="2240280" cy="292608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682600" y="42519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每月 200 万次观看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3316072" y="1783080"/>
            <a:ext cx="269748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2"/>
          <p:cNvSpPr/>
          <p:nvPr/>
        </p:nvSpPr>
        <p:spPr>
          <a:xfrm>
            <a:off x="3316072" y="1783080"/>
            <a:ext cx="2697480" cy="91440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3544672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3200"/>
          </a:p>
        </p:txBody>
      </p:sp>
      <p:sp>
        <p:nvSpPr>
          <p:cNvPr id="16" name="Text 14"/>
          <p:cNvSpPr/>
          <p:nvPr/>
        </p:nvSpPr>
        <p:spPr>
          <a:xfrm>
            <a:off x="5373472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3544672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社区合作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3544672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家长协会 · 非政府组织 · 清真寺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3544672" y="34290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与主妇协会合作举办工作坊；在斋月集市演讲；参与 MAEPS 减少食物浪费计划。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3544672" y="4251960"/>
            <a:ext cx="2240280" cy="292608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3544672" y="42519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每年 500 场活动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6178144" y="1783080"/>
            <a:ext cx="269748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Shape 21"/>
          <p:cNvSpPr/>
          <p:nvPr/>
        </p:nvSpPr>
        <p:spPr>
          <a:xfrm>
            <a:off x="6178144" y="1783080"/>
            <a:ext cx="2697480" cy="91440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6406744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3200"/>
          </a:p>
        </p:txBody>
      </p:sp>
      <p:sp>
        <p:nvSpPr>
          <p:cNvPr id="25" name="Text 23"/>
          <p:cNvSpPr/>
          <p:nvPr/>
        </p:nvSpPr>
        <p:spPr>
          <a:xfrm>
            <a:off x="8235544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6406744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零售渠道整合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6406744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Tesco · Lotus's · Jaya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6406744" y="34290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货架二维码标签：「有剩菜？用 ecoBite 拍照吧！」收据联名促销。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6406744" y="4251960"/>
            <a:ext cx="2240280" cy="292608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6406744" y="42519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家门店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9040216" y="1783080"/>
            <a:ext cx="269748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Shape 30"/>
          <p:cNvSpPr/>
          <p:nvPr/>
        </p:nvSpPr>
        <p:spPr>
          <a:xfrm>
            <a:off x="9040216" y="1783080"/>
            <a:ext cx="2697480" cy="91440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3" name="Text 31"/>
          <p:cNvSpPr/>
          <p:nvPr/>
        </p:nvSpPr>
        <p:spPr>
          <a:xfrm>
            <a:off x="9268816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</a:t>
            </a:r>
            <a:endParaRPr lang="en-US" sz="3200"/>
          </a:p>
        </p:txBody>
      </p:sp>
      <p:sp>
        <p:nvSpPr>
          <p:cNvPr id="34" name="Text 32"/>
          <p:cNvSpPr/>
          <p:nvPr/>
        </p:nvSpPr>
        <p:spPr>
          <a:xfrm>
            <a:off x="11097616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9268816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媒体报道与公关</a:t>
            </a:r>
            <a:endParaRPr lang="en-US" sz="1400"/>
          </a:p>
        </p:txBody>
      </p:sp>
      <p:sp>
        <p:nvSpPr>
          <p:cNvPr id="36" name="Text 34"/>
          <p:cNvSpPr/>
          <p:nvPr/>
        </p:nvSpPr>
        <p:spPr>
          <a:xfrm>
            <a:off x="9268816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电视 · 媒体 · 播客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9268816" y="34290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 The Star、NST Lifestyle、BFM89.9 推介，定位为马来西亚首个 AI 减少食物浪费应用。</a:t>
            </a:r>
            <a:endParaRPr lang="en-US" sz="1000"/>
          </a:p>
        </p:txBody>
      </p:sp>
      <p:sp>
        <p:nvSpPr>
          <p:cNvPr id="38" name="Shape 36"/>
          <p:cNvSpPr/>
          <p:nvPr/>
        </p:nvSpPr>
        <p:spPr>
          <a:xfrm>
            <a:off x="9268816" y="4251960"/>
            <a:ext cx="2240280" cy="292608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9" name="Text 37"/>
          <p:cNvSpPr/>
          <p:nvPr/>
        </p:nvSpPr>
        <p:spPr>
          <a:xfrm>
            <a:off x="9268816" y="42519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次媒体报道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64008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第一年漏斗模型与预算</a:t>
            </a:r>
            <a:endParaRPr lang="en-US" sz="1200"/>
          </a:p>
        </p:txBody>
      </p:sp>
      <p:sp>
        <p:nvSpPr>
          <p:cNvPr id="41" name="Shape 39"/>
          <p:cNvSpPr/>
          <p:nvPr/>
        </p:nvSpPr>
        <p:spPr>
          <a:xfrm>
            <a:off x="640080" y="5120640"/>
            <a:ext cx="1828800" cy="1005840"/>
          </a:xfrm>
          <a:prstGeom prst="rect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2" name="Text 40"/>
          <p:cNvSpPr/>
          <p:nvPr/>
        </p:nvSpPr>
        <p:spPr>
          <a:xfrm>
            <a:off x="640080" y="5212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2400"/>
          </a:p>
        </p:txBody>
      </p:sp>
      <p:sp>
        <p:nvSpPr>
          <p:cNvPr id="43" name="Text 41"/>
          <p:cNvSpPr/>
          <p:nvPr/>
        </p:nvSpPr>
        <p:spPr>
          <a:xfrm>
            <a:off x="640080" y="5715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触达</a:t>
            </a:r>
            <a:endParaRPr lang="en-US" sz="900"/>
          </a:p>
        </p:txBody>
      </p:sp>
      <p:sp>
        <p:nvSpPr>
          <p:cNvPr id="44" name="Text 42"/>
          <p:cNvSpPr/>
          <p:nvPr/>
        </p:nvSpPr>
        <p:spPr>
          <a:xfrm>
            <a:off x="640080" y="5925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曝光量</a:t>
            </a:r>
            <a:endParaRPr lang="en-US" sz="800"/>
          </a:p>
        </p:txBody>
      </p:sp>
      <p:sp>
        <p:nvSpPr>
          <p:cNvPr id="45" name="Text 43"/>
          <p:cNvSpPr/>
          <p:nvPr/>
        </p:nvSpPr>
        <p:spPr>
          <a:xfrm>
            <a:off x="2423160" y="5394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/>
          </a:p>
        </p:txBody>
      </p:sp>
      <p:sp>
        <p:nvSpPr>
          <p:cNvPr id="46" name="Shape 44"/>
          <p:cNvSpPr/>
          <p:nvPr/>
        </p:nvSpPr>
        <p:spPr>
          <a:xfrm>
            <a:off x="2560320" y="5120640"/>
            <a:ext cx="1828800" cy="10058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7" name="Text 45"/>
          <p:cNvSpPr/>
          <p:nvPr/>
        </p:nvSpPr>
        <p:spPr>
          <a:xfrm>
            <a:off x="2560320" y="5212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</a:t>
            </a:r>
            <a:endParaRPr lang="en-US" sz="2400"/>
          </a:p>
        </p:txBody>
      </p:sp>
      <p:sp>
        <p:nvSpPr>
          <p:cNvPr id="48" name="Text 46"/>
          <p:cNvSpPr/>
          <p:nvPr/>
        </p:nvSpPr>
        <p:spPr>
          <a:xfrm>
            <a:off x="2560320" y="5715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认知</a:t>
            </a:r>
            <a:endParaRPr lang="en-US" sz="900"/>
          </a:p>
        </p:txBody>
      </p:sp>
      <p:sp>
        <p:nvSpPr>
          <p:cNvPr id="49" name="Text 47"/>
          <p:cNvSpPr/>
          <p:nvPr/>
        </p:nvSpPr>
        <p:spPr>
          <a:xfrm>
            <a:off x="2560320" y="5925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应用商店访问</a:t>
            </a:r>
            <a:endParaRPr lang="en-US" sz="800"/>
          </a:p>
        </p:txBody>
      </p:sp>
      <p:sp>
        <p:nvSpPr>
          <p:cNvPr id="50" name="Text 48"/>
          <p:cNvSpPr/>
          <p:nvPr/>
        </p:nvSpPr>
        <p:spPr>
          <a:xfrm>
            <a:off x="4343400" y="5394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/>
          </a:p>
        </p:txBody>
      </p:sp>
      <p:sp>
        <p:nvSpPr>
          <p:cNvPr id="51" name="Shape 49"/>
          <p:cNvSpPr/>
          <p:nvPr/>
        </p:nvSpPr>
        <p:spPr>
          <a:xfrm>
            <a:off x="4480560" y="5120640"/>
            <a:ext cx="1828800" cy="100584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2" name="Text 50"/>
          <p:cNvSpPr/>
          <p:nvPr/>
        </p:nvSpPr>
        <p:spPr>
          <a:xfrm>
            <a:off x="4480560" y="5212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</a:t>
            </a:r>
            <a:endParaRPr lang="en-US" sz="2400"/>
          </a:p>
        </p:txBody>
      </p:sp>
      <p:sp>
        <p:nvSpPr>
          <p:cNvPr id="53" name="Text 51"/>
          <p:cNvSpPr/>
          <p:nvPr/>
        </p:nvSpPr>
        <p:spPr>
          <a:xfrm>
            <a:off x="4480560" y="5715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下载</a:t>
            </a:r>
            <a:endParaRPr lang="en-US" sz="900"/>
          </a:p>
        </p:txBody>
      </p:sp>
      <p:sp>
        <p:nvSpPr>
          <p:cNvPr id="54" name="Text 52"/>
          <p:cNvSpPr/>
          <p:nvPr/>
        </p:nvSpPr>
        <p:spPr>
          <a:xfrm>
            <a:off x="4480560" y="5925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安装量</a:t>
            </a:r>
            <a:endParaRPr lang="en-US" sz="800"/>
          </a:p>
        </p:txBody>
      </p:sp>
      <p:sp>
        <p:nvSpPr>
          <p:cNvPr id="55" name="Text 53"/>
          <p:cNvSpPr/>
          <p:nvPr/>
        </p:nvSpPr>
        <p:spPr>
          <a:xfrm>
            <a:off x="6263640" y="5394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/>
          </a:p>
        </p:txBody>
      </p:sp>
      <p:sp>
        <p:nvSpPr>
          <p:cNvPr id="56" name="Shape 54"/>
          <p:cNvSpPr/>
          <p:nvPr/>
        </p:nvSpPr>
        <p:spPr>
          <a:xfrm>
            <a:off x="6400800" y="5120640"/>
            <a:ext cx="1828800" cy="1005840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7" name="Text 55"/>
          <p:cNvSpPr/>
          <p:nvPr/>
        </p:nvSpPr>
        <p:spPr>
          <a:xfrm>
            <a:off x="6400800" y="5212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2400"/>
          </a:p>
        </p:txBody>
      </p:sp>
      <p:sp>
        <p:nvSpPr>
          <p:cNvPr id="58" name="Text 56"/>
          <p:cNvSpPr/>
          <p:nvPr/>
        </p:nvSpPr>
        <p:spPr>
          <a:xfrm>
            <a:off x="6400800" y="5715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活跃用户</a:t>
            </a:r>
            <a:endParaRPr lang="en-US" sz="900"/>
          </a:p>
        </p:txBody>
      </p:sp>
      <p:sp>
        <p:nvSpPr>
          <p:cNvPr id="59" name="Text 57"/>
          <p:cNvSpPr/>
          <p:nvPr/>
        </p:nvSpPr>
        <p:spPr>
          <a:xfrm>
            <a:off x="6400800" y="5925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每周下厨</a:t>
            </a:r>
            <a:endParaRPr lang="en-US" sz="800"/>
          </a:p>
        </p:txBody>
      </p:sp>
      <p:sp>
        <p:nvSpPr>
          <p:cNvPr id="60" name="Shape 58"/>
          <p:cNvSpPr/>
          <p:nvPr/>
        </p:nvSpPr>
        <p:spPr>
          <a:xfrm>
            <a:off x="8366760" y="5120640"/>
            <a:ext cx="3154680" cy="1005840"/>
          </a:xfrm>
          <a:prstGeom prst="rect">
            <a:avLst/>
          </a:prstGeom>
          <a:solidFill>
            <a:srgbClr val="38322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1" name="Text 59"/>
          <p:cNvSpPr/>
          <p:nvPr/>
        </p:nvSpPr>
        <p:spPr>
          <a:xfrm>
            <a:off x="8549640" y="523036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第一年预算</a:t>
            </a:r>
            <a:endParaRPr lang="en-US" sz="900"/>
          </a:p>
        </p:txBody>
      </p:sp>
      <p:sp>
        <p:nvSpPr>
          <p:cNvPr id="62" name="Text 60"/>
          <p:cNvSpPr/>
          <p:nvPr/>
        </p:nvSpPr>
        <p:spPr>
          <a:xfrm>
            <a:off x="8549640" y="54406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350K</a:t>
            </a:r>
            <a:endParaRPr lang="en-US" sz="2600"/>
          </a:p>
        </p:txBody>
      </p:sp>
      <p:sp>
        <p:nvSpPr>
          <p:cNvPr id="63" name="Text 61"/>
          <p:cNvSpPr/>
          <p:nvPr/>
        </p:nvSpPr>
        <p:spPr>
          <a:xfrm>
            <a:off x="8549640" y="589788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每活跃用户获客成本 RM 3.50</a:t>
            </a:r>
            <a:endParaRPr lang="en-US" sz="1000"/>
          </a:p>
        </p:txBody>
      </p:sp>
      <p:sp>
        <p:nvSpPr>
          <p:cNvPr id="64" name="Text 62"/>
          <p:cNvSpPr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endParaRPr lang="en-US" sz="900"/>
          </a:p>
        </p:txBody>
      </p:sp>
      <p:sp>
        <p:nvSpPr>
          <p:cNvPr id="65" name="Text 63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BD4CB9-BDB3-D8AB-CA33-CADABDB0A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D5857AB7-C930-F73C-93B9-FC77624397EE}"/>
              </a:ext>
            </a:extLst>
          </p:cNvPr>
          <p:cNvSpPr/>
          <p:nvPr/>
        </p:nvSpPr>
        <p:spPr>
          <a:xfrm>
            <a:off x="439337" y="2304123"/>
            <a:ext cx="2744436" cy="3867253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116FCF0-9368-2B2D-0CA8-75E37FEFE84A}"/>
              </a:ext>
            </a:extLst>
          </p:cNvPr>
          <p:cNvSpPr/>
          <p:nvPr/>
        </p:nvSpPr>
        <p:spPr>
          <a:xfrm>
            <a:off x="576497" y="4130864"/>
            <a:ext cx="2476294" cy="468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ja-JP" altLang="en-US" sz="1500">
                <a:solidFill>
                  <a:srgbClr val="383223"/>
                </a:solidFill>
                <a:ea typeface="+mn-lt"/>
                <a:cs typeface="+mn-lt"/>
              </a:rPr>
              <a:t>项目经理</a:t>
            </a:r>
            <a:endParaRPr lang="en-US"/>
          </a:p>
          <a:p>
            <a:pPr algn="ctr"/>
            <a:r>
              <a:rPr lang="en-US" sz="1500" b="1" err="1">
                <a:solidFill>
                  <a:srgbClr val="383223"/>
                </a:solidFill>
                <a:latin typeface="Calibri"/>
                <a:ea typeface="Calibri"/>
                <a:cs typeface="Calibri"/>
              </a:rPr>
              <a:t>林峙妤</a:t>
            </a:r>
            <a:endParaRPr lang="en-US" sz="1500" b="1">
              <a:solidFill>
                <a:srgbClr val="38322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CF43FC5-57DA-985F-0AC5-09B81A78341C}"/>
              </a:ext>
            </a:extLst>
          </p:cNvPr>
          <p:cNvSpPr/>
          <p:nvPr/>
        </p:nvSpPr>
        <p:spPr>
          <a:xfrm>
            <a:off x="439337" y="4907034"/>
            <a:ext cx="2734961" cy="1059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ja-JP" altLang="en-US" sz="1000">
                <a:solidFill>
                  <a:srgbClr val="2C2C2A"/>
                </a:solidFill>
                <a:ea typeface="+mn-lt"/>
                <a:cs typeface="+mn-lt"/>
              </a:rPr>
              <a:t>管理项目流程与完成进度</a:t>
            </a:r>
            <a:endParaRPr lang="en-US" altLang="ja-JP"/>
          </a:p>
          <a:p>
            <a:pPr algn="ctr"/>
            <a:r>
              <a:rPr lang="ja-JP" altLang="en-US" sz="1000">
                <a:solidFill>
                  <a:srgbClr val="2C2C2A"/>
                </a:solidFill>
                <a:ea typeface="+mn-lt"/>
                <a:cs typeface="+mn-lt"/>
              </a:rPr>
              <a:t>协调团队讨论</a:t>
            </a:r>
            <a:endParaRPr lang="en-US" altLang="ja-JP"/>
          </a:p>
          <a:p>
            <a:pPr algn="ctr"/>
            <a:r>
              <a:rPr lang="ja-JP" altLang="en-US" sz="1000">
                <a:solidFill>
                  <a:srgbClr val="2C2C2A"/>
                </a:solidFill>
                <a:ea typeface="+mn-lt"/>
                <a:cs typeface="+mn-lt"/>
              </a:rPr>
              <a:t>确保应用程序顺利完成</a:t>
            </a:r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D93A5C4-2C79-5AAC-470F-585C55872933}"/>
              </a:ext>
            </a:extLst>
          </p:cNvPr>
          <p:cNvSpPr/>
          <p:nvPr/>
        </p:nvSpPr>
        <p:spPr>
          <a:xfrm>
            <a:off x="3300749" y="2304123"/>
            <a:ext cx="2744436" cy="3867253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D1A3BC5-1941-AA05-DFE1-B8C983CFA3F6}"/>
              </a:ext>
            </a:extLst>
          </p:cNvPr>
          <p:cNvSpPr/>
          <p:nvPr/>
        </p:nvSpPr>
        <p:spPr>
          <a:xfrm>
            <a:off x="3962659" y="2638991"/>
            <a:ext cx="1416496" cy="1416496"/>
          </a:xfrm>
          <a:prstGeom prst="ellipse">
            <a:avLst/>
          </a:prstGeom>
          <a:solidFill>
            <a:srgbClr val="F4F8EB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A0620CE-54EE-C0E4-4162-BBAD7BDD34DB}"/>
              </a:ext>
            </a:extLst>
          </p:cNvPr>
          <p:cNvSpPr/>
          <p:nvPr/>
        </p:nvSpPr>
        <p:spPr>
          <a:xfrm>
            <a:off x="3962659" y="2638991"/>
            <a:ext cx="1416496" cy="1416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F6E56"/>
                </a:solidFill>
                <a:latin typeface="Calibri" pitchFamily="34" charset="0"/>
              </a:rPr>
              <a:t>UI/UX</a:t>
            </a:r>
            <a:endParaRPr lang="en-US" sz="26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7D61DFE-9BA7-9ABA-A5D1-2E8B150FE5F5}"/>
              </a:ext>
            </a:extLst>
          </p:cNvPr>
          <p:cNvSpPr/>
          <p:nvPr/>
        </p:nvSpPr>
        <p:spPr>
          <a:xfrm>
            <a:off x="3479098" y="4130864"/>
            <a:ext cx="2476294" cy="468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>
                <a:solidFill>
                  <a:srgbClr val="383223"/>
                </a:solidFill>
                <a:ea typeface="+mn-lt"/>
                <a:cs typeface="+mn-lt"/>
              </a:rPr>
              <a:t>用户界面／用户体验</a:t>
            </a:r>
            <a:endParaRPr lang="en-US"/>
          </a:p>
          <a:p>
            <a:pPr algn="ctr"/>
            <a:r>
              <a:rPr lang="en-US" sz="1500" b="1" err="1">
                <a:solidFill>
                  <a:srgbClr val="383223"/>
                </a:solidFill>
                <a:latin typeface="Calibri"/>
                <a:ea typeface="Calibri"/>
                <a:cs typeface="Calibri"/>
              </a:rPr>
              <a:t>颜歆霓</a:t>
            </a:r>
            <a:endParaRPr lang="en-US" sz="1500" b="1">
              <a:solidFill>
                <a:srgbClr val="38322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1426A94-DDF1-7EB5-FBE8-5830B27DF605}"/>
              </a:ext>
            </a:extLst>
          </p:cNvPr>
          <p:cNvSpPr/>
          <p:nvPr/>
        </p:nvSpPr>
        <p:spPr>
          <a:xfrm>
            <a:off x="3626556" y="4717398"/>
            <a:ext cx="2119595" cy="374986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D3B7719-565A-A345-C158-85D22FBFD64D}"/>
              </a:ext>
            </a:extLst>
          </p:cNvPr>
          <p:cNvSpPr/>
          <p:nvPr/>
        </p:nvSpPr>
        <p:spPr>
          <a:xfrm>
            <a:off x="3626556" y="4717398"/>
            <a:ext cx="2119595" cy="374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>
                <a:solidFill>
                  <a:srgbClr val="FFFFFF"/>
                </a:solidFill>
                <a:ea typeface="+mn-lt"/>
                <a:cs typeface="+mn-lt"/>
              </a:rPr>
              <a:t>界面与用户体验</a:t>
            </a:r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B7B81FE-997C-BAF4-BAAB-4441D2429084}"/>
              </a:ext>
            </a:extLst>
          </p:cNvPr>
          <p:cNvSpPr/>
          <p:nvPr/>
        </p:nvSpPr>
        <p:spPr>
          <a:xfrm>
            <a:off x="3339468" y="5010006"/>
            <a:ext cx="2652582" cy="1059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ja-JP" altLang="en-US" sz="1000">
                <a:ea typeface="+mn-lt"/>
                <a:cs typeface="+mn-lt"/>
              </a:rPr>
              <a:t>设计应用程序的布局与视觉外观</a:t>
            </a:r>
            <a:endParaRPr lang="en-US"/>
          </a:p>
          <a:p>
            <a:pPr algn="ctr"/>
            <a:r>
              <a:rPr lang="ja-JP" altLang="en-US" sz="1000">
                <a:ea typeface="+mn-lt"/>
                <a:cs typeface="+mn-lt"/>
              </a:rPr>
              <a:t>改善整体用户体验</a:t>
            </a:r>
            <a:endParaRPr lang="en-US"/>
          </a:p>
          <a:p>
            <a:pPr marL="0" indent="0" algn="ctr">
              <a:buNone/>
            </a:pPr>
            <a:endParaRPr lang="en-US" sz="1000">
              <a:ea typeface="Calibri"/>
              <a:cs typeface="Calibri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6CD988A-33B2-34D1-9F8F-8C294100068E}"/>
              </a:ext>
            </a:extLst>
          </p:cNvPr>
          <p:cNvSpPr/>
          <p:nvPr/>
        </p:nvSpPr>
        <p:spPr>
          <a:xfrm>
            <a:off x="6172459" y="2304123"/>
            <a:ext cx="2734138" cy="3867253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03A67C7-FAB4-DE6C-0213-9874DACB7D1F}"/>
              </a:ext>
            </a:extLst>
          </p:cNvPr>
          <p:cNvSpPr/>
          <p:nvPr/>
        </p:nvSpPr>
        <p:spPr>
          <a:xfrm>
            <a:off x="6803477" y="2638991"/>
            <a:ext cx="1416496" cy="1416496"/>
          </a:xfrm>
          <a:prstGeom prst="ellipse">
            <a:avLst/>
          </a:prstGeom>
          <a:solidFill>
            <a:srgbClr val="F4F8EB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99A8BFB-C0C0-67E4-C776-3BBD45F86CCF}"/>
              </a:ext>
            </a:extLst>
          </p:cNvPr>
          <p:cNvSpPr/>
          <p:nvPr/>
        </p:nvSpPr>
        <p:spPr>
          <a:xfrm>
            <a:off x="6803477" y="2638991"/>
            <a:ext cx="1416496" cy="1416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F6E56"/>
                </a:solidFill>
                <a:latin typeface="Calibri" pitchFamily="34" charset="0"/>
              </a:rPr>
              <a:t>DEV</a:t>
            </a:r>
            <a:endParaRPr lang="en-US" sz="26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99821A2-A0D5-830C-6EB7-9237D8B27040}"/>
              </a:ext>
            </a:extLst>
          </p:cNvPr>
          <p:cNvSpPr/>
          <p:nvPr/>
        </p:nvSpPr>
        <p:spPr>
          <a:xfrm>
            <a:off x="6309619" y="4120567"/>
            <a:ext cx="2476294" cy="468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>
                <a:solidFill>
                  <a:srgbClr val="383223"/>
                </a:solidFill>
                <a:ea typeface="+mn-lt"/>
                <a:cs typeface="+mn-lt"/>
              </a:rPr>
              <a:t>应用开发者</a:t>
            </a:r>
            <a:endParaRPr lang="en-US"/>
          </a:p>
          <a:p>
            <a:pPr algn="ctr"/>
            <a:r>
              <a:rPr lang="en-US" sz="1500" b="1" err="1">
                <a:solidFill>
                  <a:srgbClr val="383223"/>
                </a:solidFill>
                <a:latin typeface="Calibri"/>
              </a:rPr>
              <a:t>郑韦楦</a:t>
            </a:r>
            <a:endParaRPr lang="en-US" err="1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D5965B7-8D97-764A-1356-B30216474811}"/>
              </a:ext>
            </a:extLst>
          </p:cNvPr>
          <p:cNvSpPr/>
          <p:nvPr/>
        </p:nvSpPr>
        <p:spPr>
          <a:xfrm>
            <a:off x="6498265" y="4717398"/>
            <a:ext cx="2119595" cy="374986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D0E8127-8B94-7A68-F715-1EA231AB700E}"/>
              </a:ext>
            </a:extLst>
          </p:cNvPr>
          <p:cNvSpPr/>
          <p:nvPr/>
        </p:nvSpPr>
        <p:spPr>
          <a:xfrm>
            <a:off x="6498265" y="4717398"/>
            <a:ext cx="2119595" cy="374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>
                <a:solidFill>
                  <a:srgbClr val="FFFFFF"/>
                </a:solidFill>
                <a:ea typeface="+mn-lt"/>
                <a:cs typeface="+mn-lt"/>
              </a:rPr>
              <a:t>应用程序开发</a:t>
            </a:r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563CF25-EC16-BF4B-3F8E-DBBE85777D95}"/>
              </a:ext>
            </a:extLst>
          </p:cNvPr>
          <p:cNvSpPr/>
          <p:nvPr/>
        </p:nvSpPr>
        <p:spPr>
          <a:xfrm>
            <a:off x="6149394" y="4958520"/>
            <a:ext cx="2755554" cy="1008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ja-JP" altLang="en-US" sz="1000">
                <a:ea typeface="+mn-lt"/>
                <a:cs typeface="+mn-lt"/>
              </a:rPr>
              <a:t>构建核心应用功能与数据库系统</a:t>
            </a:r>
            <a:endParaRPr lang="en-US"/>
          </a:p>
          <a:p>
            <a:pPr algn="ctr"/>
            <a:r>
              <a:rPr lang="ja-JP" altLang="en-US" sz="1000">
                <a:ea typeface="+mn-lt"/>
                <a:cs typeface="+mn-lt"/>
              </a:rPr>
              <a:t>整合</a:t>
            </a:r>
            <a:r>
              <a:rPr lang="en-US" sz="1000">
                <a:ea typeface="+mn-lt"/>
                <a:cs typeface="+mn-lt"/>
              </a:rPr>
              <a:t> API </a:t>
            </a:r>
            <a:r>
              <a:rPr lang="ja-JP" altLang="en-US" sz="1000">
                <a:ea typeface="+mn-lt"/>
                <a:cs typeface="+mn-lt"/>
              </a:rPr>
              <a:t>与应用功能</a:t>
            </a:r>
            <a:endParaRPr lang="en-US"/>
          </a:p>
          <a:p>
            <a:pPr marL="0" indent="0" algn="ctr">
              <a:buNone/>
            </a:pPr>
            <a:endParaRPr lang="en-US" sz="1000">
              <a:ea typeface="Calibri"/>
              <a:cs typeface="Calibri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E497B34-C44C-2192-6561-B7C0A5D1D573}"/>
              </a:ext>
            </a:extLst>
          </p:cNvPr>
          <p:cNvSpPr/>
          <p:nvPr/>
        </p:nvSpPr>
        <p:spPr>
          <a:xfrm>
            <a:off x="9033872" y="2304123"/>
            <a:ext cx="2744436" cy="3867253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4378260-D859-255F-315C-2685DECE77FD}"/>
              </a:ext>
            </a:extLst>
          </p:cNvPr>
          <p:cNvSpPr/>
          <p:nvPr/>
        </p:nvSpPr>
        <p:spPr>
          <a:xfrm>
            <a:off x="9706079" y="2638991"/>
            <a:ext cx="1416496" cy="1416496"/>
          </a:xfrm>
          <a:prstGeom prst="ellipse">
            <a:avLst/>
          </a:prstGeom>
          <a:solidFill>
            <a:srgbClr val="F4F8EB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565F5B7-22A3-241D-E9C2-E11F0A409198}"/>
              </a:ext>
            </a:extLst>
          </p:cNvPr>
          <p:cNvSpPr/>
          <p:nvPr/>
        </p:nvSpPr>
        <p:spPr>
          <a:xfrm>
            <a:off x="9706079" y="2638991"/>
            <a:ext cx="1416496" cy="1416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F6E56"/>
                </a:solidFill>
                <a:latin typeface="Calibri" pitchFamily="34" charset="0"/>
              </a:rPr>
              <a:t>AI</a:t>
            </a:r>
            <a:endParaRPr lang="en-US" sz="26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81455FC-37F7-3AB7-8FA9-F032221E2DA7}"/>
              </a:ext>
            </a:extLst>
          </p:cNvPr>
          <p:cNvSpPr/>
          <p:nvPr/>
        </p:nvSpPr>
        <p:spPr>
          <a:xfrm>
            <a:off x="9171032" y="4120567"/>
            <a:ext cx="2476294" cy="468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383223"/>
                </a:solidFill>
                <a:ea typeface="+mn-lt"/>
                <a:cs typeface="+mn-lt"/>
              </a:rPr>
              <a:t>AI </a:t>
            </a:r>
            <a:r>
              <a:rPr lang="ja-JP" altLang="en-US" sz="1500">
                <a:solidFill>
                  <a:srgbClr val="383223"/>
                </a:solidFill>
                <a:ea typeface="+mn-lt"/>
                <a:cs typeface="+mn-lt"/>
              </a:rPr>
              <a:t>与内容专员</a:t>
            </a:r>
            <a:endParaRPr lang="en-US"/>
          </a:p>
          <a:p>
            <a:pPr algn="ctr"/>
            <a:r>
              <a:rPr lang="en-US" sz="1500" b="1" err="1">
                <a:solidFill>
                  <a:srgbClr val="383223"/>
                </a:solidFill>
                <a:latin typeface="Calibri"/>
              </a:rPr>
              <a:t>朱彦茗</a:t>
            </a:r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D0B229E-6BC7-4619-1603-67D8B1EDBEF2}"/>
              </a:ext>
            </a:extLst>
          </p:cNvPr>
          <p:cNvSpPr/>
          <p:nvPr/>
        </p:nvSpPr>
        <p:spPr>
          <a:xfrm>
            <a:off x="9359678" y="4717398"/>
            <a:ext cx="2119595" cy="374986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2536C15-AC10-74C8-A021-16CD860E1EBB}"/>
              </a:ext>
            </a:extLst>
          </p:cNvPr>
          <p:cNvSpPr/>
          <p:nvPr/>
        </p:nvSpPr>
        <p:spPr>
          <a:xfrm>
            <a:off x="9359678" y="4717398"/>
            <a:ext cx="2119595" cy="374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>
                <a:solidFill>
                  <a:srgbClr val="FFFFFF"/>
                </a:solidFill>
                <a:ea typeface="+mn-lt"/>
                <a:cs typeface="+mn-lt"/>
              </a:rPr>
              <a:t>智能功能与研究</a:t>
            </a:r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65464DE-CB2E-F72A-983B-9EBE8C76A1D7}"/>
              </a:ext>
            </a:extLst>
          </p:cNvPr>
          <p:cNvSpPr/>
          <p:nvPr/>
        </p:nvSpPr>
        <p:spPr>
          <a:xfrm>
            <a:off x="9093490" y="4859487"/>
            <a:ext cx="2642284" cy="1059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ja-JP" altLang="en-US" sz="1000">
                <a:ea typeface="+mn-lt"/>
                <a:cs typeface="+mn-lt"/>
              </a:rPr>
              <a:t>开发</a:t>
            </a:r>
            <a:r>
              <a:rPr lang="en-US" sz="1000">
                <a:ea typeface="+mn-lt"/>
                <a:cs typeface="+mn-lt"/>
              </a:rPr>
              <a:t> AI</a:t>
            </a:r>
            <a:r>
              <a:rPr lang="en-US" altLang="ja-JP" sz="1000">
                <a:ea typeface="+mn-lt"/>
                <a:cs typeface="+mn-lt"/>
              </a:rPr>
              <a:t> </a:t>
            </a:r>
            <a:r>
              <a:rPr lang="ja-JP" altLang="en-US" sz="1000">
                <a:ea typeface="+mn-lt"/>
                <a:cs typeface="+mn-lt"/>
              </a:rPr>
              <a:t>驱动的推荐功能</a:t>
            </a:r>
            <a:endParaRPr lang="en-US"/>
          </a:p>
          <a:p>
            <a:pPr algn="ctr"/>
            <a:r>
              <a:rPr lang="ja-JP" altLang="en-US" sz="1000">
                <a:ea typeface="+mn-lt"/>
                <a:cs typeface="+mn-lt"/>
              </a:rPr>
              <a:t>研究食品可持续性相关资料</a:t>
            </a:r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09664AA0-DDC2-FB07-2598-FF915C75C6A7}"/>
              </a:ext>
            </a:extLst>
          </p:cNvPr>
          <p:cNvSpPr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endParaRPr lang="en-US" sz="90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F0364DEA-646E-8F67-4756-229EF8713DE0}"/>
              </a:ext>
            </a:extLst>
          </p:cNvPr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5D11DEE-699B-0294-EC5C-149CB613E0F7}"/>
              </a:ext>
            </a:extLst>
          </p:cNvPr>
          <p:cNvSpPr/>
          <p:nvPr/>
        </p:nvSpPr>
        <p:spPr>
          <a:xfrm>
            <a:off x="1101247" y="2638991"/>
            <a:ext cx="1416496" cy="1416496"/>
          </a:xfrm>
          <a:prstGeom prst="ellipse">
            <a:avLst/>
          </a:prstGeom>
          <a:solidFill>
            <a:srgbClr val="F4F8EB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FF880B9-4BC3-BF5E-F44D-DB5495DFD067}"/>
              </a:ext>
            </a:extLst>
          </p:cNvPr>
          <p:cNvSpPr/>
          <p:nvPr/>
        </p:nvSpPr>
        <p:spPr>
          <a:xfrm>
            <a:off x="1101246" y="2638991"/>
            <a:ext cx="1416496" cy="1416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2600" b="1">
                <a:solidFill>
                  <a:srgbClr val="0F6E56"/>
                </a:solidFill>
                <a:ea typeface="+mn-lt"/>
                <a:cs typeface="+mn-lt"/>
              </a:rPr>
              <a:t>PM</a:t>
            </a:r>
            <a:endParaRPr lang="en-US" sz="2600">
              <a:ea typeface="Calibri"/>
              <a:cs typeface="Calibri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55D4328-9620-C815-3BA9-CC577BD36FF9}"/>
              </a:ext>
            </a:extLst>
          </p:cNvPr>
          <p:cNvSpPr/>
          <p:nvPr/>
        </p:nvSpPr>
        <p:spPr>
          <a:xfrm>
            <a:off x="765143" y="4717398"/>
            <a:ext cx="2119595" cy="374986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907B0B0-4375-727D-715E-E8A88739E7FA}"/>
              </a:ext>
            </a:extLst>
          </p:cNvPr>
          <p:cNvSpPr/>
          <p:nvPr/>
        </p:nvSpPr>
        <p:spPr>
          <a:xfrm>
            <a:off x="765143" y="4717397"/>
            <a:ext cx="2119595" cy="374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err="1">
                <a:solidFill>
                  <a:srgbClr val="FFFFFF"/>
                </a:solidFill>
                <a:ea typeface="+mn-lt"/>
                <a:cs typeface="+mn-lt"/>
              </a:rPr>
              <a:t>规划与协调</a:t>
            </a:r>
            <a:endParaRPr lang="en-US" err="1"/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642862A5-6744-0C7D-F51F-60A1A6475B25}"/>
              </a:ext>
            </a:extLst>
          </p:cNvPr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团队成员</a:t>
            </a:r>
            <a:endParaRPr lang="en-US" sz="1200"/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B081CAA9-610F-EE32-B952-B27B19F70435}"/>
              </a:ext>
            </a:extLst>
          </p:cNvPr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打造 ecoBite 的团队</a:t>
            </a:r>
            <a:endParaRPr lang="en-US" sz="320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B94B0F1D-4FFC-ACCC-1F96-AE7DB27CA3B4}"/>
              </a:ext>
            </a:extLst>
          </p:cNvPr>
          <p:cNvSpPr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一支专注的小团队，融合了产品、工程与食品科学三大领域。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716401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技术与市场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基于成熟技术构建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</a:t>
            </a:r>
            <a:endParaRPr lang="en-US" sz="180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188720" cy="41148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1965960" y="2377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4（视觉识别 + 菜谱生成）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188720" cy="41148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1965960" y="3017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HTML5、Tailwind CSS、原生 JS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1188720" cy="41148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1965960" y="3657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实现离线优先体验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1188720" cy="41148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多语言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965960" y="4297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自定义双语系统（中文 / English）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1188720" cy="41148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640080" y="4937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1965960" y="4937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 CDN，智能关键词映射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640080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市场机遇</a:t>
            </a:r>
            <a:endParaRPr lang="en-US" sz="1800"/>
          </a:p>
        </p:txBody>
      </p:sp>
      <p:sp>
        <p:nvSpPr>
          <p:cNvPr id="21" name="Shape 19"/>
          <p:cNvSpPr/>
          <p:nvPr/>
        </p:nvSpPr>
        <p:spPr>
          <a:xfrm>
            <a:off x="6400800" y="2377440"/>
            <a:ext cx="5120640" cy="12801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6400800" y="23774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8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4.2B</a:t>
            </a:r>
            <a:endParaRPr lang="en-US" sz="4800"/>
          </a:p>
        </p:txBody>
      </p:sp>
      <p:sp>
        <p:nvSpPr>
          <p:cNvPr id="23" name="Text 21"/>
          <p:cNvSpPr/>
          <p:nvPr/>
        </p:nvSpPr>
        <p:spPr>
          <a:xfrm>
            <a:off x="6400800" y="3108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马来西亚每年浪费的食物价值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6400800" y="3840480"/>
            <a:ext cx="1645920" cy="1371600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6400800" y="3977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8M+</a:t>
            </a:r>
            <a:endParaRPr lang="en-US" sz="2000"/>
          </a:p>
        </p:txBody>
      </p:sp>
      <p:sp>
        <p:nvSpPr>
          <p:cNvPr id="26" name="Text 24"/>
          <p:cNvSpPr/>
          <p:nvPr/>
        </p:nvSpPr>
        <p:spPr>
          <a:xfrm>
            <a:off x="6492240" y="4617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个家庭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8138160" y="3840480"/>
            <a:ext cx="1645920" cy="1371600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8138160" y="3977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2000"/>
          </a:p>
        </p:txBody>
      </p:sp>
      <p:sp>
        <p:nvSpPr>
          <p:cNvPr id="29" name="Text 27"/>
          <p:cNvSpPr/>
          <p:nvPr/>
        </p:nvSpPr>
        <p:spPr>
          <a:xfrm>
            <a:off x="8229600" y="4617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智能手机普及率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9875520" y="3840480"/>
            <a:ext cx="1645920" cy="1371600"/>
          </a:xfrm>
          <a:prstGeom prst="rect">
            <a:avLst/>
          </a:prstGeom>
          <a:solidFill>
            <a:srgbClr val="F4F8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1" name="Text 29"/>
          <p:cNvSpPr/>
          <p:nvPr/>
        </p:nvSpPr>
        <p:spPr>
          <a:xfrm>
            <a:off x="9875520" y="3977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</a:t>
            </a:r>
            <a:endParaRPr lang="en-US" sz="2000"/>
          </a:p>
        </p:txBody>
      </p:sp>
      <p:sp>
        <p:nvSpPr>
          <p:cNvPr id="32" name="Text 30"/>
          <p:cNvSpPr/>
          <p:nvPr/>
        </p:nvSpPr>
        <p:spPr>
          <a:xfrm>
            <a:off x="9966960" y="4617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人均食物浪费最严重国家排行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9E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每一份剩食</a:t>
            </a:r>
            <a:endParaRPr lang="en-US" sz="720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i="1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都值得第二次机会。</a:t>
            </a:r>
            <a:endParaRPr lang="en-US" sz="7200"/>
          </a:p>
        </p:txBody>
      </p:sp>
      <p:sp>
        <p:nvSpPr>
          <p:cNvPr id="4" name="Text 2"/>
          <p:cNvSpPr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立即体验 ecoBite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 err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ecobite.app</a:t>
            </a:r>
            <a:r>
              <a:rPr lang="en-US" sz="1400" i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 </a:t>
            </a:r>
            <a:r>
              <a:rPr lang="en-US" sz="1400" i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 </a:t>
            </a:r>
            <a:r>
              <a:rPr lang="en-US" sz="1400" i="1" dirty="0" err="1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hello@ecobite.app</a:t>
            </a:r>
            <a:r>
              <a:rPr lang="en-US" sz="1400" i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@ecobite_my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789</Words>
  <Application>Microsoft Office PowerPoint</Application>
  <PresentationFormat>Widescreen</PresentationFormat>
  <Paragraphs>275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ecoBite — 项目展示</dc:title>
  <dc:subject>PptxGenJS Presentation</dc:subject>
  <dc:creator>ecoBite 团队</dc:creator>
  <cp:lastModifiedBy>Foong, Wendy</cp:lastModifiedBy>
  <cp:revision>3</cp:revision>
  <dcterms:created xsi:type="dcterms:W3CDTF">2026-05-01T12:05:01Z</dcterms:created>
  <dcterms:modified xsi:type="dcterms:W3CDTF">2026-05-10T14:31:55Z</dcterms:modified>
</cp:coreProperties>
</file>