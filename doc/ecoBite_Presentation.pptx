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8E0A8E-272B-12C9-ED41-3E68AD18A57D}" v="653" dt="2026-05-08T08:16:36.228"/>
    <p1510:client id="{6B1CC087-AB3D-4F71-649C-95D88EF1855B}" v="6" dt="2026-05-08T07:46:49.649"/>
    <p1510:client id="{CBF9E872-EC3E-9BB6-1023-E7281CD87C7E}" v="1" dt="2026-05-09T04:12:33.7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600" y="-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DEA15A-F175-6349-A261-F5C1DE7D978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893715-E6ED-1A4D-BE10-BDF430733A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772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zhiyee-lim.github.io/ecobite/app/ecobite_app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zhiyee-lim.github.io/ecobite/app/ecobite_app.html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9E7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86000"/>
            <a:ext cx="1463040" cy="1463040"/>
          </a:xfrm>
          <a:prstGeom prst="ellipse">
            <a:avLst/>
          </a:prstGeom>
          <a:solidFill>
            <a:srgbClr val="FFF8F1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3" name="Shape 1"/>
          <p:cNvSpPr/>
          <p:nvPr/>
        </p:nvSpPr>
        <p:spPr>
          <a:xfrm>
            <a:off x="1280160" y="2651760"/>
            <a:ext cx="731520" cy="731520"/>
          </a:xfrm>
          <a:prstGeom prst="ellipse">
            <a:avLst/>
          </a:prstGeom>
          <a:solidFill>
            <a:srgbClr val="EF9F27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4" name="Text 2"/>
          <p:cNvSpPr/>
          <p:nvPr/>
        </p:nvSpPr>
        <p:spPr>
          <a:xfrm>
            <a:off x="2743200" y="2103120"/>
            <a:ext cx="8686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ecoBite</a:t>
            </a:r>
            <a:endParaRPr lang="en-US" sz="8000"/>
          </a:p>
        </p:txBody>
      </p:sp>
      <p:sp>
        <p:nvSpPr>
          <p:cNvPr id="5" name="Text 3"/>
          <p:cNvSpPr/>
          <p:nvPr/>
        </p:nvSpPr>
        <p:spPr>
          <a:xfrm>
            <a:off x="2743200" y="33832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leftovers · Cook new dishes · Waste nothing</a:t>
            </a:r>
            <a:endParaRPr lang="en-US" sz="2200"/>
          </a:p>
        </p:txBody>
      </p:sp>
      <p:sp>
        <p:nvSpPr>
          <p:cNvPr id="6" name="Text 4"/>
          <p:cNvSpPr/>
          <p:nvPr/>
        </p:nvSpPr>
        <p:spPr>
          <a:xfrm>
            <a:off x="274320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AI-powered mobile app that turns your fridge leftovers into delicious new recipes — saving food, money and the planet, one bite at a time.</a:t>
            </a:r>
            <a:endParaRPr lang="en-US" sz="1600"/>
          </a:p>
        </p:txBody>
      </p:sp>
      <p:sp>
        <p:nvSpPr>
          <p:cNvPr id="7" name="Text 5"/>
          <p:cNvSpPr/>
          <p:nvPr/>
        </p:nvSpPr>
        <p:spPr>
          <a:xfrm>
            <a:off x="640080" y="63093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Presentation · 2026</a:t>
            </a:r>
            <a:endParaRPr lang="en-US" sz="1100"/>
          </a:p>
        </p:txBody>
      </p:sp>
      <p:sp>
        <p:nvSpPr>
          <p:cNvPr id="8" name="Text 6"/>
          <p:cNvSpPr/>
          <p:nvPr/>
        </p:nvSpPr>
        <p:spPr>
          <a:xfrm>
            <a:off x="5943600" y="630936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3 · Good Health and Well-being   ·   SDG 12 · Responsible Consumption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Problem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waste is a silent crisis in every household</a:t>
            </a:r>
            <a:endParaRPr lang="en-US" sz="360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1.05B</a:t>
            </a:r>
            <a:endParaRPr lang="en-US" sz="4800"/>
          </a:p>
        </p:txBody>
      </p:sp>
      <p:sp>
        <p:nvSpPr>
          <p:cNvPr id="5" name="Text 3"/>
          <p:cNvSpPr/>
          <p:nvPr/>
        </p:nvSpPr>
        <p:spPr>
          <a:xfrm>
            <a:off x="3383280" y="2514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tonnes</a:t>
            </a:r>
            <a:endParaRPr lang="en-US" sz="140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food wasted globally each year (UNEP, 2024)</a:t>
            </a:r>
            <a:endParaRPr lang="en-US" sz="1300"/>
          </a:p>
        </p:txBody>
      </p:sp>
      <p:sp>
        <p:nvSpPr>
          <p:cNvPr id="7" name="Text 5"/>
          <p:cNvSpPr/>
          <p:nvPr/>
        </p:nvSpPr>
        <p:spPr>
          <a:xfrm>
            <a:off x="640080" y="34747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1,800</a:t>
            </a:r>
            <a:endParaRPr lang="en-US" sz="4800"/>
          </a:p>
        </p:txBody>
      </p:sp>
      <p:sp>
        <p:nvSpPr>
          <p:cNvPr id="8" name="Text 6"/>
          <p:cNvSpPr/>
          <p:nvPr/>
        </p:nvSpPr>
        <p:spPr>
          <a:xfrm>
            <a:off x="3383280" y="3886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year</a:t>
            </a:r>
            <a:endParaRPr lang="en-US" sz="1400"/>
          </a:p>
        </p:txBody>
      </p:sp>
      <p:sp>
        <p:nvSpPr>
          <p:cNvPr id="9" name="Text 7"/>
          <p:cNvSpPr/>
          <p:nvPr/>
        </p:nvSpPr>
        <p:spPr>
          <a:xfrm>
            <a:off x="640080" y="429768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per Malaysian household to spoiled food</a:t>
            </a:r>
            <a:endParaRPr lang="en-US" sz="1300"/>
          </a:p>
        </p:txBody>
      </p:sp>
      <p:sp>
        <p:nvSpPr>
          <p:cNvPr id="10" name="Text 8"/>
          <p:cNvSpPr/>
          <p:nvPr/>
        </p:nvSpPr>
        <p:spPr>
          <a:xfrm>
            <a:off x="640080" y="48463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8-10%</a:t>
            </a:r>
            <a:endParaRPr lang="en-US" sz="4800"/>
          </a:p>
        </p:txBody>
      </p:sp>
      <p:sp>
        <p:nvSpPr>
          <p:cNvPr id="11" name="Text 9"/>
          <p:cNvSpPr/>
          <p:nvPr/>
        </p:nvSpPr>
        <p:spPr>
          <a:xfrm>
            <a:off x="3383280" y="5257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CO₂</a:t>
            </a:r>
            <a:endParaRPr lang="en-US" sz="1400"/>
          </a:p>
        </p:txBody>
      </p:sp>
      <p:sp>
        <p:nvSpPr>
          <p:cNvPr id="12" name="Text 10"/>
          <p:cNvSpPr/>
          <p:nvPr/>
        </p:nvSpPr>
        <p:spPr>
          <a:xfrm>
            <a:off x="640080" y="566928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emissions come from food waste</a:t>
            </a:r>
            <a:endParaRPr lang="en-US" sz="1300"/>
          </a:p>
        </p:txBody>
      </p:sp>
      <p:sp>
        <p:nvSpPr>
          <p:cNvPr id="13" name="Shape 11"/>
          <p:cNvSpPr/>
          <p:nvPr/>
        </p:nvSpPr>
        <p:spPr>
          <a:xfrm>
            <a:off x="7315200" y="2103120"/>
            <a:ext cx="4206240" cy="4114800"/>
          </a:xfrm>
          <a:prstGeom prst="rect">
            <a:avLst/>
          </a:prstGeom>
          <a:solidFill>
            <a:srgbClr val="F4F8EB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4" name="Text 12"/>
          <p:cNvSpPr/>
          <p:nvPr/>
        </p:nvSpPr>
        <p:spPr>
          <a:xfrm>
            <a:off x="7680960" y="2331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200"/>
          </a:p>
        </p:txBody>
      </p:sp>
      <p:sp>
        <p:nvSpPr>
          <p:cNvPr id="15" name="Text 13"/>
          <p:cNvSpPr/>
          <p:nvPr/>
        </p:nvSpPr>
        <p:spPr>
          <a:xfrm>
            <a:off x="7680960" y="2834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"Most home cooks don't throw food away on purpose — they simply run out of ideas for what to cook with what's already in the fridge."</a:t>
            </a:r>
            <a:endParaRPr lang="en-US" sz="1700"/>
          </a:p>
        </p:txBody>
      </p:sp>
      <p:sp>
        <p:nvSpPr>
          <p:cNvPr id="16" name="Text 14"/>
          <p:cNvSpPr/>
          <p:nvPr/>
        </p:nvSpPr>
        <p:spPr>
          <a:xfrm>
            <a:off x="7680960" y="48463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waste edible food not from negligence, but from a lack of inspiration and time.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solidFill>
            <a:srgbClr val="EF9F27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8" name="Text 16"/>
          <p:cNvSpPr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Aligned with UN SDG 3 · Good Health and Well-being   +   SDG 12 · Responsible Consumption and Production</a:t>
            </a:r>
            <a:endParaRPr lang="en-US" sz="1100"/>
          </a:p>
        </p:txBody>
      </p:sp>
      <p:sp>
        <p:nvSpPr>
          <p:cNvPr id="19" name="Text 17"/>
          <p:cNvSpPr/>
          <p:nvPr/>
        </p:nvSpPr>
        <p:spPr>
          <a:xfrm>
            <a:off x="45720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ecoBite</a:t>
            </a:r>
            <a:endParaRPr lang="en-US" sz="900"/>
          </a:p>
        </p:txBody>
      </p:sp>
      <p:sp>
        <p:nvSpPr>
          <p:cNvPr id="20" name="Text 1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Our Solution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ecoBite turns leftovers into recipes — instantly</a:t>
            </a:r>
            <a:endParaRPr lang="en-US" sz="340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taps from photo to dinner. AI does the thinking — you just cook.</a:t>
            </a:r>
            <a:endParaRPr lang="en-US" sz="1600"/>
          </a:p>
        </p:txBody>
      </p:sp>
      <p:sp>
        <p:nvSpPr>
          <p:cNvPr id="5" name="Shape 3"/>
          <p:cNvSpPr/>
          <p:nvPr/>
        </p:nvSpPr>
        <p:spPr>
          <a:xfrm>
            <a:off x="586588" y="2651760"/>
            <a:ext cx="352044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D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Shape 4"/>
          <p:cNvSpPr/>
          <p:nvPr/>
        </p:nvSpPr>
        <p:spPr>
          <a:xfrm>
            <a:off x="586588" y="2651760"/>
            <a:ext cx="3520440" cy="109728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7" name="Text 5"/>
          <p:cNvSpPr/>
          <p:nvPr/>
        </p:nvSpPr>
        <p:spPr>
          <a:xfrm>
            <a:off x="952348" y="3017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</a:t>
            </a:r>
            <a:endParaRPr lang="en-US" sz="4800"/>
          </a:p>
        </p:txBody>
      </p:sp>
      <p:sp>
        <p:nvSpPr>
          <p:cNvPr id="8" name="Text 6"/>
          <p:cNvSpPr/>
          <p:nvPr/>
        </p:nvSpPr>
        <p:spPr>
          <a:xfrm>
            <a:off x="3284068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/>
          </a:p>
        </p:txBody>
      </p:sp>
      <p:sp>
        <p:nvSpPr>
          <p:cNvPr id="9" name="Text 7"/>
          <p:cNvSpPr/>
          <p:nvPr/>
        </p:nvSpPr>
        <p:spPr>
          <a:xfrm>
            <a:off x="952348" y="420624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Vision Recognition</a:t>
            </a:r>
            <a:endParaRPr lang="en-US" sz="1800"/>
          </a:p>
        </p:txBody>
      </p:sp>
      <p:sp>
        <p:nvSpPr>
          <p:cNvPr id="10" name="Text 8"/>
          <p:cNvSpPr/>
          <p:nvPr/>
        </p:nvSpPr>
        <p:spPr>
          <a:xfrm>
            <a:off x="952348" y="484632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a photo of your fridge. Claude vision model identifies every ingredient with confidence scores.</a:t>
            </a:r>
            <a:endParaRPr lang="en-US" sz="1200"/>
          </a:p>
        </p:txBody>
      </p:sp>
      <p:sp>
        <p:nvSpPr>
          <p:cNvPr id="11" name="Shape 9"/>
          <p:cNvSpPr/>
          <p:nvPr/>
        </p:nvSpPr>
        <p:spPr>
          <a:xfrm>
            <a:off x="4335628" y="2651760"/>
            <a:ext cx="352044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D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" name="Shape 10"/>
          <p:cNvSpPr/>
          <p:nvPr/>
        </p:nvSpPr>
        <p:spPr>
          <a:xfrm>
            <a:off x="4335628" y="2651760"/>
            <a:ext cx="3520440" cy="109728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3" name="Text 11"/>
          <p:cNvSpPr/>
          <p:nvPr/>
        </p:nvSpPr>
        <p:spPr>
          <a:xfrm>
            <a:off x="4701388" y="3017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🍳</a:t>
            </a:r>
            <a:endParaRPr lang="en-US" sz="4800"/>
          </a:p>
        </p:txBody>
      </p:sp>
      <p:sp>
        <p:nvSpPr>
          <p:cNvPr id="14" name="Text 12"/>
          <p:cNvSpPr/>
          <p:nvPr/>
        </p:nvSpPr>
        <p:spPr>
          <a:xfrm>
            <a:off x="7033108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/>
          </a:p>
        </p:txBody>
      </p:sp>
      <p:sp>
        <p:nvSpPr>
          <p:cNvPr id="15" name="Text 13"/>
          <p:cNvSpPr/>
          <p:nvPr/>
        </p:nvSpPr>
        <p:spPr>
          <a:xfrm>
            <a:off x="4701388" y="420624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Recipe Matching</a:t>
            </a:r>
            <a:endParaRPr lang="en-US" sz="1800"/>
          </a:p>
        </p:txBody>
      </p:sp>
      <p:sp>
        <p:nvSpPr>
          <p:cNvPr id="16" name="Text 14"/>
          <p:cNvSpPr/>
          <p:nvPr/>
        </p:nvSpPr>
        <p:spPr>
          <a:xfrm>
            <a:off x="4701388" y="484632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4 personalized dishes ranked by ingredient match. Filter by cuisine, time, dietary needs.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8084668" y="2651760"/>
            <a:ext cx="352044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D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8" name="Shape 16"/>
          <p:cNvSpPr/>
          <p:nvPr/>
        </p:nvSpPr>
        <p:spPr>
          <a:xfrm>
            <a:off x="8084668" y="2651760"/>
            <a:ext cx="3520440" cy="109728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9" name="Text 17"/>
          <p:cNvSpPr/>
          <p:nvPr/>
        </p:nvSpPr>
        <p:spPr>
          <a:xfrm>
            <a:off x="8450428" y="3017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</a:t>
            </a:r>
            <a:endParaRPr lang="en-US" sz="4800"/>
          </a:p>
        </p:txBody>
      </p:sp>
      <p:sp>
        <p:nvSpPr>
          <p:cNvPr id="20" name="Text 18"/>
          <p:cNvSpPr/>
          <p:nvPr/>
        </p:nvSpPr>
        <p:spPr>
          <a:xfrm>
            <a:off x="10782148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/>
          </a:p>
        </p:txBody>
      </p:sp>
      <p:sp>
        <p:nvSpPr>
          <p:cNvPr id="21" name="Text 19"/>
          <p:cNvSpPr/>
          <p:nvPr/>
        </p:nvSpPr>
        <p:spPr>
          <a:xfrm>
            <a:off x="8450428" y="420624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 Impact Tracking</a:t>
            </a:r>
            <a:endParaRPr lang="en-US" sz="1800"/>
          </a:p>
        </p:txBody>
      </p:sp>
      <p:sp>
        <p:nvSpPr>
          <p:cNvPr id="22" name="Text 20"/>
          <p:cNvSpPr/>
          <p:nvPr/>
        </p:nvSpPr>
        <p:spPr>
          <a:xfrm>
            <a:off x="8450428" y="484632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your weekly food saved (kg) and money saved (RM). Build a habit by seeing real results.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45720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ecoBite</a:t>
            </a:r>
            <a:endParaRPr lang="en-US" sz="900"/>
          </a:p>
        </p:txBody>
      </p:sp>
      <p:sp>
        <p:nvSpPr>
          <p:cNvPr id="24" name="Text 22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How It Works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fridge photo to finished meal in under 30 seconds</a:t>
            </a:r>
            <a:endParaRPr lang="en-US" sz="3200"/>
          </a:p>
        </p:txBody>
      </p:sp>
      <p:sp>
        <p:nvSpPr>
          <p:cNvPr id="4" name="Shape 2"/>
          <p:cNvSpPr/>
          <p:nvPr/>
        </p:nvSpPr>
        <p:spPr>
          <a:xfrm>
            <a:off x="1112368" y="2103120"/>
            <a:ext cx="822960" cy="822960"/>
          </a:xfrm>
          <a:prstGeom prst="ellipse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5" name="Text 3"/>
          <p:cNvSpPr/>
          <p:nvPr/>
        </p:nvSpPr>
        <p:spPr>
          <a:xfrm>
            <a:off x="1112368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/>
          </a:p>
        </p:txBody>
      </p:sp>
      <p:sp>
        <p:nvSpPr>
          <p:cNvPr id="6" name="Shape 4"/>
          <p:cNvSpPr/>
          <p:nvPr/>
        </p:nvSpPr>
        <p:spPr>
          <a:xfrm>
            <a:off x="2552548" y="2514600"/>
            <a:ext cx="228600" cy="0"/>
          </a:xfrm>
          <a:prstGeom prst="line">
            <a:avLst/>
          </a:prstGeom>
          <a:noFill/>
          <a:ln w="25400">
            <a:solidFill>
              <a:srgbClr val="97C459"/>
            </a:solidFill>
            <a:prstDash val="dash"/>
          </a:ln>
        </p:spPr>
        <p:txBody>
          <a:bodyPr/>
          <a:lstStyle/>
          <a:p>
            <a:endParaRPr lang="en-MY"/>
          </a:p>
        </p:txBody>
      </p:sp>
      <p:sp>
        <p:nvSpPr>
          <p:cNvPr id="7" name="Text 5"/>
          <p:cNvSpPr/>
          <p:nvPr/>
        </p:nvSpPr>
        <p:spPr>
          <a:xfrm>
            <a:off x="449428" y="31089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</a:t>
            </a:r>
            <a:endParaRPr lang="en-US" sz="1800"/>
          </a:p>
        </p:txBody>
      </p:sp>
      <p:sp>
        <p:nvSpPr>
          <p:cNvPr id="8" name="Text 6"/>
          <p:cNvSpPr/>
          <p:nvPr/>
        </p:nvSpPr>
        <p:spPr>
          <a:xfrm>
            <a:off x="540868" y="361188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camera, photograph leftovers</a:t>
            </a:r>
            <a:endParaRPr lang="en-US" sz="1100"/>
          </a:p>
        </p:txBody>
      </p:sp>
      <p:sp>
        <p:nvSpPr>
          <p:cNvPr id="9" name="Shape 7"/>
          <p:cNvSpPr/>
          <p:nvPr/>
        </p:nvSpPr>
        <p:spPr>
          <a:xfrm>
            <a:off x="3398368" y="2103120"/>
            <a:ext cx="822960" cy="822960"/>
          </a:xfrm>
          <a:prstGeom prst="ellipse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0" name="Text 8"/>
          <p:cNvSpPr/>
          <p:nvPr/>
        </p:nvSpPr>
        <p:spPr>
          <a:xfrm>
            <a:off x="3398368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/>
          </a:p>
        </p:txBody>
      </p:sp>
      <p:sp>
        <p:nvSpPr>
          <p:cNvPr id="11" name="Shape 9"/>
          <p:cNvSpPr/>
          <p:nvPr/>
        </p:nvSpPr>
        <p:spPr>
          <a:xfrm>
            <a:off x="4838548" y="2514600"/>
            <a:ext cx="228600" cy="0"/>
          </a:xfrm>
          <a:prstGeom prst="line">
            <a:avLst/>
          </a:prstGeom>
          <a:noFill/>
          <a:ln w="25400">
            <a:solidFill>
              <a:srgbClr val="97C459"/>
            </a:solidFill>
            <a:prstDash val="dash"/>
          </a:ln>
        </p:spPr>
        <p:txBody>
          <a:bodyPr/>
          <a:lstStyle/>
          <a:p>
            <a:endParaRPr lang="en-MY"/>
          </a:p>
        </p:txBody>
      </p:sp>
      <p:sp>
        <p:nvSpPr>
          <p:cNvPr id="12" name="Text 10"/>
          <p:cNvSpPr/>
          <p:nvPr/>
        </p:nvSpPr>
        <p:spPr>
          <a:xfrm>
            <a:off x="2735428" y="31089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800"/>
          </a:p>
        </p:txBody>
      </p:sp>
      <p:sp>
        <p:nvSpPr>
          <p:cNvPr id="13" name="Text 11"/>
          <p:cNvSpPr/>
          <p:nvPr/>
        </p:nvSpPr>
        <p:spPr>
          <a:xfrm>
            <a:off x="2826868" y="361188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identifies ingredients with confidence</a:t>
            </a:r>
            <a:endParaRPr lang="en-US" sz="1100"/>
          </a:p>
        </p:txBody>
      </p:sp>
      <p:sp>
        <p:nvSpPr>
          <p:cNvPr id="14" name="Shape 12"/>
          <p:cNvSpPr/>
          <p:nvPr/>
        </p:nvSpPr>
        <p:spPr>
          <a:xfrm>
            <a:off x="5684368" y="2103120"/>
            <a:ext cx="822960" cy="822960"/>
          </a:xfrm>
          <a:prstGeom prst="ellipse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5" name="Text 13"/>
          <p:cNvSpPr/>
          <p:nvPr/>
        </p:nvSpPr>
        <p:spPr>
          <a:xfrm>
            <a:off x="5684368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/>
          </a:p>
        </p:txBody>
      </p:sp>
      <p:sp>
        <p:nvSpPr>
          <p:cNvPr id="16" name="Shape 14"/>
          <p:cNvSpPr/>
          <p:nvPr/>
        </p:nvSpPr>
        <p:spPr>
          <a:xfrm>
            <a:off x="7124548" y="2514600"/>
            <a:ext cx="228600" cy="0"/>
          </a:xfrm>
          <a:prstGeom prst="line">
            <a:avLst/>
          </a:prstGeom>
          <a:noFill/>
          <a:ln w="25400">
            <a:solidFill>
              <a:srgbClr val="97C459"/>
            </a:solidFill>
            <a:prstDash val="dash"/>
          </a:ln>
        </p:spPr>
        <p:txBody>
          <a:bodyPr/>
          <a:lstStyle/>
          <a:p>
            <a:endParaRPr lang="en-MY"/>
          </a:p>
        </p:txBody>
      </p:sp>
      <p:sp>
        <p:nvSpPr>
          <p:cNvPr id="17" name="Text 15"/>
          <p:cNvSpPr/>
          <p:nvPr/>
        </p:nvSpPr>
        <p:spPr>
          <a:xfrm>
            <a:off x="5021428" y="31089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</a:t>
            </a:r>
            <a:endParaRPr lang="en-US" sz="1800"/>
          </a:p>
        </p:txBody>
      </p:sp>
      <p:sp>
        <p:nvSpPr>
          <p:cNvPr id="18" name="Text 16"/>
          <p:cNvSpPr/>
          <p:nvPr/>
        </p:nvSpPr>
        <p:spPr>
          <a:xfrm>
            <a:off x="5112868" y="361188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chips, add prefs (vegetarian, halal)</a:t>
            </a:r>
            <a:endParaRPr lang="en-US" sz="1100"/>
          </a:p>
        </p:txBody>
      </p:sp>
      <p:sp>
        <p:nvSpPr>
          <p:cNvPr id="19" name="Shape 17"/>
          <p:cNvSpPr/>
          <p:nvPr/>
        </p:nvSpPr>
        <p:spPr>
          <a:xfrm>
            <a:off x="7970368" y="2103120"/>
            <a:ext cx="822960" cy="822960"/>
          </a:xfrm>
          <a:prstGeom prst="ellipse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20" name="Text 18"/>
          <p:cNvSpPr/>
          <p:nvPr/>
        </p:nvSpPr>
        <p:spPr>
          <a:xfrm>
            <a:off x="7970368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/>
          </a:p>
        </p:txBody>
      </p:sp>
      <p:sp>
        <p:nvSpPr>
          <p:cNvPr id="21" name="Shape 19"/>
          <p:cNvSpPr/>
          <p:nvPr/>
        </p:nvSpPr>
        <p:spPr>
          <a:xfrm>
            <a:off x="9410548" y="2514600"/>
            <a:ext cx="228600" cy="0"/>
          </a:xfrm>
          <a:prstGeom prst="line">
            <a:avLst/>
          </a:prstGeom>
          <a:noFill/>
          <a:ln w="25400">
            <a:solidFill>
              <a:srgbClr val="97C459"/>
            </a:solidFill>
            <a:prstDash val="dash"/>
          </a:ln>
        </p:spPr>
        <p:txBody>
          <a:bodyPr/>
          <a:lstStyle/>
          <a:p>
            <a:endParaRPr lang="en-MY"/>
          </a:p>
        </p:txBody>
      </p:sp>
      <p:sp>
        <p:nvSpPr>
          <p:cNvPr id="22" name="Text 20"/>
          <p:cNvSpPr/>
          <p:nvPr/>
        </p:nvSpPr>
        <p:spPr>
          <a:xfrm>
            <a:off x="7307428" y="31089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800"/>
          </a:p>
        </p:txBody>
      </p:sp>
      <p:sp>
        <p:nvSpPr>
          <p:cNvPr id="23" name="Text 21"/>
          <p:cNvSpPr/>
          <p:nvPr/>
        </p:nvSpPr>
        <p:spPr>
          <a:xfrm>
            <a:off x="7398868" y="361188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4 ranked recipes with match scores</a:t>
            </a:r>
            <a:endParaRPr lang="en-US" sz="1100"/>
          </a:p>
        </p:txBody>
      </p:sp>
      <p:sp>
        <p:nvSpPr>
          <p:cNvPr id="24" name="Shape 22"/>
          <p:cNvSpPr/>
          <p:nvPr/>
        </p:nvSpPr>
        <p:spPr>
          <a:xfrm>
            <a:off x="10256368" y="2103120"/>
            <a:ext cx="822960" cy="822960"/>
          </a:xfrm>
          <a:prstGeom prst="ellipse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25" name="Text 23"/>
          <p:cNvSpPr/>
          <p:nvPr/>
        </p:nvSpPr>
        <p:spPr>
          <a:xfrm>
            <a:off x="10256368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00"/>
          </a:p>
        </p:txBody>
      </p:sp>
      <p:sp>
        <p:nvSpPr>
          <p:cNvPr id="26" name="Text 24"/>
          <p:cNvSpPr/>
          <p:nvPr/>
        </p:nvSpPr>
        <p:spPr>
          <a:xfrm>
            <a:off x="9593428" y="31089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</a:t>
            </a:r>
            <a:endParaRPr lang="en-US" sz="1800"/>
          </a:p>
        </p:txBody>
      </p:sp>
      <p:sp>
        <p:nvSpPr>
          <p:cNvPr id="27" name="Text 25"/>
          <p:cNvSpPr/>
          <p:nvPr/>
        </p:nvSpPr>
        <p:spPr>
          <a:xfrm>
            <a:off x="9684868" y="361188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instructions, save to cookbook</a:t>
            </a:r>
            <a:endParaRPr lang="en-US" sz="1100"/>
          </a:p>
        </p:txBody>
      </p:sp>
      <p:sp>
        <p:nvSpPr>
          <p:cNvPr id="28" name="Shape 26"/>
          <p:cNvSpPr/>
          <p:nvPr/>
        </p:nvSpPr>
        <p:spPr>
          <a:xfrm>
            <a:off x="640080" y="4937760"/>
            <a:ext cx="10972800" cy="1280160"/>
          </a:xfrm>
          <a:prstGeom prst="rect">
            <a:avLst/>
          </a:prstGeom>
          <a:solidFill>
            <a:srgbClr val="F4F8EB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29" name="Text 27"/>
          <p:cNvSpPr/>
          <p:nvPr/>
        </p:nvSpPr>
        <p:spPr>
          <a:xfrm>
            <a:off x="914400" y="51206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000"/>
          </a:p>
        </p:txBody>
      </p:sp>
      <p:sp>
        <p:nvSpPr>
          <p:cNvPr id="30" name="Text 28"/>
          <p:cNvSpPr/>
          <p:nvPr/>
        </p:nvSpPr>
        <p:spPr>
          <a:xfrm>
            <a:off x="914400" y="5394960"/>
            <a:ext cx="107364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00" b="1" dirty="0" err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ecoBite</a:t>
            </a:r>
            <a:r>
              <a:rPr lang="en-US" sz="1800" b="1" dirty="0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fully working today — try it at </a:t>
            </a:r>
            <a:r>
              <a:rPr lang="en-US" b="1" dirty="0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https://zhiyee-lim.github.io/ecobite/app/ecobite_app.html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1440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(中文 / English) · Real Claude Vision API · 8 avatar profiles · 20 seed recipes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45720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ecoBite</a:t>
            </a:r>
            <a:endParaRPr lang="en-US" sz="900"/>
          </a:p>
        </p:txBody>
      </p:sp>
      <p:sp>
        <p:nvSpPr>
          <p:cNvPr id="33" name="Text 31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The App in Action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screens, designed for housewives</a:t>
            </a:r>
            <a:endParaRPr lang="en-US" sz="3200"/>
          </a:p>
        </p:txBody>
      </p:sp>
      <p:sp>
        <p:nvSpPr>
          <p:cNvPr id="4" name="Shape 2"/>
          <p:cNvSpPr/>
          <p:nvPr/>
        </p:nvSpPr>
        <p:spPr>
          <a:xfrm>
            <a:off x="586588" y="1920240"/>
            <a:ext cx="2057400" cy="4114800"/>
          </a:xfrm>
          <a:prstGeom prst="rect">
            <a:avLst/>
          </a:prstGeom>
          <a:solidFill>
            <a:srgbClr val="2C2C2A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5" name="Shape 3"/>
          <p:cNvSpPr/>
          <p:nvPr/>
        </p:nvSpPr>
        <p:spPr>
          <a:xfrm>
            <a:off x="659740" y="2057400"/>
            <a:ext cx="1911096" cy="3840480"/>
          </a:xfrm>
          <a:prstGeom prst="rect">
            <a:avLst/>
          </a:prstGeom>
          <a:solidFill>
            <a:srgbClr val="FFF8F1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6" name="Shape 4"/>
          <p:cNvSpPr/>
          <p:nvPr/>
        </p:nvSpPr>
        <p:spPr>
          <a:xfrm>
            <a:off x="659740" y="2057400"/>
            <a:ext cx="1911096" cy="164592"/>
          </a:xfrm>
          <a:prstGeom prst="rect">
            <a:avLst/>
          </a:prstGeom>
          <a:solidFill>
            <a:srgbClr val="2C2C2A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7" name="Shape 5"/>
          <p:cNvSpPr/>
          <p:nvPr/>
        </p:nvSpPr>
        <p:spPr>
          <a:xfrm>
            <a:off x="659740" y="2221992"/>
            <a:ext cx="1911096" cy="4114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8" name="Text 6"/>
          <p:cNvSpPr/>
          <p:nvPr/>
        </p:nvSpPr>
        <p:spPr>
          <a:xfrm>
            <a:off x="659740" y="2221992"/>
            <a:ext cx="1911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100"/>
          </a:p>
        </p:txBody>
      </p:sp>
      <p:sp>
        <p:nvSpPr>
          <p:cNvPr id="9" name="Shape 7"/>
          <p:cNvSpPr/>
          <p:nvPr/>
        </p:nvSpPr>
        <p:spPr>
          <a:xfrm>
            <a:off x="769468" y="2834640"/>
            <a:ext cx="16916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0" name="Shape 8"/>
          <p:cNvSpPr/>
          <p:nvPr/>
        </p:nvSpPr>
        <p:spPr>
          <a:xfrm>
            <a:off x="860908" y="2999232"/>
            <a:ext cx="128016" cy="128016"/>
          </a:xfrm>
          <a:prstGeom prst="ellipse">
            <a:avLst/>
          </a:prstGeom>
          <a:solidFill>
            <a:srgbClr val="97C459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1" name="Text 9"/>
          <p:cNvSpPr/>
          <p:nvPr/>
        </p:nvSpPr>
        <p:spPr>
          <a:xfrm>
            <a:off x="1043788" y="28803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Greeting + avatar</a:t>
            </a:r>
            <a:endParaRPr lang="en-US" sz="800"/>
          </a:p>
        </p:txBody>
      </p:sp>
      <p:sp>
        <p:nvSpPr>
          <p:cNvPr id="12" name="Shape 10"/>
          <p:cNvSpPr/>
          <p:nvPr/>
        </p:nvSpPr>
        <p:spPr>
          <a:xfrm>
            <a:off x="769468" y="3429000"/>
            <a:ext cx="1691640" cy="457200"/>
          </a:xfrm>
          <a:prstGeom prst="rect">
            <a:avLst/>
          </a:prstGeom>
          <a:solidFill>
            <a:srgbClr val="F4F8EB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3" name="Shape 11"/>
          <p:cNvSpPr/>
          <p:nvPr/>
        </p:nvSpPr>
        <p:spPr>
          <a:xfrm>
            <a:off x="860908" y="3593592"/>
            <a:ext cx="128016" cy="128016"/>
          </a:xfrm>
          <a:prstGeom prst="ellipse">
            <a:avLst/>
          </a:prstGeom>
          <a:solidFill>
            <a:srgbClr val="97C459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4" name="Text 12"/>
          <p:cNvSpPr/>
          <p:nvPr/>
        </p:nvSpPr>
        <p:spPr>
          <a:xfrm>
            <a:off x="1043788" y="34747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eco card</a:t>
            </a:r>
            <a:endParaRPr lang="en-US" sz="800"/>
          </a:p>
        </p:txBody>
      </p:sp>
      <p:sp>
        <p:nvSpPr>
          <p:cNvPr id="15" name="Shape 13"/>
          <p:cNvSpPr/>
          <p:nvPr/>
        </p:nvSpPr>
        <p:spPr>
          <a:xfrm>
            <a:off x="769468" y="4023360"/>
            <a:ext cx="16916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6" name="Shape 14"/>
          <p:cNvSpPr/>
          <p:nvPr/>
        </p:nvSpPr>
        <p:spPr>
          <a:xfrm>
            <a:off x="860908" y="4187952"/>
            <a:ext cx="128016" cy="128016"/>
          </a:xfrm>
          <a:prstGeom prst="ellipse">
            <a:avLst/>
          </a:prstGeom>
          <a:solidFill>
            <a:srgbClr val="97C459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7" name="Text 15"/>
          <p:cNvSpPr/>
          <p:nvPr/>
        </p:nvSpPr>
        <p:spPr>
          <a:xfrm>
            <a:off x="1043788" y="40690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CTA</a:t>
            </a:r>
            <a:endParaRPr lang="en-US" sz="800"/>
          </a:p>
        </p:txBody>
      </p:sp>
      <p:sp>
        <p:nvSpPr>
          <p:cNvPr id="18" name="Shape 16"/>
          <p:cNvSpPr/>
          <p:nvPr/>
        </p:nvSpPr>
        <p:spPr>
          <a:xfrm>
            <a:off x="769468" y="4617720"/>
            <a:ext cx="1691640" cy="457200"/>
          </a:xfrm>
          <a:prstGeom prst="rect">
            <a:avLst/>
          </a:prstGeom>
          <a:solidFill>
            <a:srgbClr val="F4F8EB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9" name="Shape 17"/>
          <p:cNvSpPr/>
          <p:nvPr/>
        </p:nvSpPr>
        <p:spPr>
          <a:xfrm>
            <a:off x="860908" y="4782312"/>
            <a:ext cx="128016" cy="128016"/>
          </a:xfrm>
          <a:prstGeom prst="ellipse">
            <a:avLst/>
          </a:prstGeom>
          <a:solidFill>
            <a:srgbClr val="97C459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20" name="Text 18"/>
          <p:cNvSpPr/>
          <p:nvPr/>
        </p:nvSpPr>
        <p:spPr>
          <a:xfrm>
            <a:off x="1043788" y="46634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cooks</a:t>
            </a:r>
            <a:endParaRPr lang="en-US" sz="800"/>
          </a:p>
        </p:txBody>
      </p:sp>
      <p:sp>
        <p:nvSpPr>
          <p:cNvPr id="21" name="Shape 19"/>
          <p:cNvSpPr/>
          <p:nvPr/>
        </p:nvSpPr>
        <p:spPr>
          <a:xfrm>
            <a:off x="952348" y="5532120"/>
            <a:ext cx="1325880" cy="54864"/>
          </a:xfrm>
          <a:prstGeom prst="rect">
            <a:avLst/>
          </a:prstGeom>
          <a:solidFill>
            <a:srgbClr val="6B6B6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22" name="Text 20"/>
          <p:cNvSpPr/>
          <p:nvPr/>
        </p:nvSpPr>
        <p:spPr>
          <a:xfrm>
            <a:off x="586588" y="61722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/>
          </a:p>
        </p:txBody>
      </p:sp>
      <p:sp>
        <p:nvSpPr>
          <p:cNvPr id="23" name="Shape 21"/>
          <p:cNvSpPr/>
          <p:nvPr/>
        </p:nvSpPr>
        <p:spPr>
          <a:xfrm>
            <a:off x="2826868" y="1920240"/>
            <a:ext cx="2057400" cy="4114800"/>
          </a:xfrm>
          <a:prstGeom prst="rect">
            <a:avLst/>
          </a:prstGeom>
          <a:solidFill>
            <a:srgbClr val="2C2C2A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24" name="Shape 22"/>
          <p:cNvSpPr/>
          <p:nvPr/>
        </p:nvSpPr>
        <p:spPr>
          <a:xfrm>
            <a:off x="2900020" y="2057400"/>
            <a:ext cx="1911096" cy="3840480"/>
          </a:xfrm>
          <a:prstGeom prst="rect">
            <a:avLst/>
          </a:prstGeom>
          <a:solidFill>
            <a:srgbClr val="FFF8F1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25" name="Shape 23"/>
          <p:cNvSpPr/>
          <p:nvPr/>
        </p:nvSpPr>
        <p:spPr>
          <a:xfrm>
            <a:off x="2900020" y="2057400"/>
            <a:ext cx="1911096" cy="164592"/>
          </a:xfrm>
          <a:prstGeom prst="rect">
            <a:avLst/>
          </a:prstGeom>
          <a:solidFill>
            <a:srgbClr val="2C2C2A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26" name="Shape 24"/>
          <p:cNvSpPr/>
          <p:nvPr/>
        </p:nvSpPr>
        <p:spPr>
          <a:xfrm>
            <a:off x="2900020" y="2221992"/>
            <a:ext cx="1911096" cy="4114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27" name="Text 25"/>
          <p:cNvSpPr/>
          <p:nvPr/>
        </p:nvSpPr>
        <p:spPr>
          <a:xfrm>
            <a:off x="2900020" y="2221992"/>
            <a:ext cx="1911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</a:t>
            </a:r>
            <a:endParaRPr lang="en-US" sz="1100"/>
          </a:p>
        </p:txBody>
      </p:sp>
      <p:sp>
        <p:nvSpPr>
          <p:cNvPr id="28" name="Shape 26"/>
          <p:cNvSpPr/>
          <p:nvPr/>
        </p:nvSpPr>
        <p:spPr>
          <a:xfrm>
            <a:off x="3009748" y="2834640"/>
            <a:ext cx="16916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29" name="Shape 27"/>
          <p:cNvSpPr/>
          <p:nvPr/>
        </p:nvSpPr>
        <p:spPr>
          <a:xfrm>
            <a:off x="3101188" y="2999232"/>
            <a:ext cx="128016" cy="128016"/>
          </a:xfrm>
          <a:prstGeom prst="ellipse">
            <a:avLst/>
          </a:prstGeom>
          <a:solidFill>
            <a:srgbClr val="97C459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30" name="Text 28"/>
          <p:cNvSpPr/>
          <p:nvPr/>
        </p:nvSpPr>
        <p:spPr>
          <a:xfrm>
            <a:off x="3284068" y="28803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upload</a:t>
            </a:r>
            <a:endParaRPr lang="en-US" sz="800"/>
          </a:p>
        </p:txBody>
      </p:sp>
      <p:sp>
        <p:nvSpPr>
          <p:cNvPr id="31" name="Shape 29"/>
          <p:cNvSpPr/>
          <p:nvPr/>
        </p:nvSpPr>
        <p:spPr>
          <a:xfrm>
            <a:off x="3009748" y="3429000"/>
            <a:ext cx="1691640" cy="457200"/>
          </a:xfrm>
          <a:prstGeom prst="rect">
            <a:avLst/>
          </a:prstGeom>
          <a:solidFill>
            <a:srgbClr val="F4F8EB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32" name="Shape 30"/>
          <p:cNvSpPr/>
          <p:nvPr/>
        </p:nvSpPr>
        <p:spPr>
          <a:xfrm>
            <a:off x="3101188" y="3593592"/>
            <a:ext cx="128016" cy="128016"/>
          </a:xfrm>
          <a:prstGeom prst="ellipse">
            <a:avLst/>
          </a:prstGeom>
          <a:solidFill>
            <a:srgbClr val="97C459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33" name="Text 31"/>
          <p:cNvSpPr/>
          <p:nvPr/>
        </p:nvSpPr>
        <p:spPr>
          <a:xfrm>
            <a:off x="3284068" y="34747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scan</a:t>
            </a:r>
            <a:endParaRPr lang="en-US" sz="800"/>
          </a:p>
        </p:txBody>
      </p:sp>
      <p:sp>
        <p:nvSpPr>
          <p:cNvPr id="34" name="Shape 32"/>
          <p:cNvSpPr/>
          <p:nvPr/>
        </p:nvSpPr>
        <p:spPr>
          <a:xfrm>
            <a:off x="3009748" y="4023360"/>
            <a:ext cx="16916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35" name="Shape 33"/>
          <p:cNvSpPr/>
          <p:nvPr/>
        </p:nvSpPr>
        <p:spPr>
          <a:xfrm>
            <a:off x="3101188" y="4187952"/>
            <a:ext cx="128016" cy="128016"/>
          </a:xfrm>
          <a:prstGeom prst="ellipse">
            <a:avLst/>
          </a:prstGeom>
          <a:solidFill>
            <a:srgbClr val="97C459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36" name="Text 34"/>
          <p:cNvSpPr/>
          <p:nvPr/>
        </p:nvSpPr>
        <p:spPr>
          <a:xfrm>
            <a:off x="3284068" y="40690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Retake controls</a:t>
            </a:r>
            <a:endParaRPr lang="en-US" sz="800"/>
          </a:p>
        </p:txBody>
      </p:sp>
      <p:sp>
        <p:nvSpPr>
          <p:cNvPr id="37" name="Shape 35"/>
          <p:cNvSpPr/>
          <p:nvPr/>
        </p:nvSpPr>
        <p:spPr>
          <a:xfrm>
            <a:off x="3009748" y="4617720"/>
            <a:ext cx="1691640" cy="457200"/>
          </a:xfrm>
          <a:prstGeom prst="rect">
            <a:avLst/>
          </a:prstGeom>
          <a:solidFill>
            <a:srgbClr val="F4F8EB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38" name="Shape 36"/>
          <p:cNvSpPr/>
          <p:nvPr/>
        </p:nvSpPr>
        <p:spPr>
          <a:xfrm>
            <a:off x="3101188" y="4782312"/>
            <a:ext cx="128016" cy="128016"/>
          </a:xfrm>
          <a:prstGeom prst="ellipse">
            <a:avLst/>
          </a:prstGeom>
          <a:solidFill>
            <a:srgbClr val="97C459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39" name="Text 37"/>
          <p:cNvSpPr/>
          <p:nvPr/>
        </p:nvSpPr>
        <p:spPr>
          <a:xfrm>
            <a:off x="3284068" y="46634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 card</a:t>
            </a:r>
            <a:endParaRPr lang="en-US" sz="800"/>
          </a:p>
        </p:txBody>
      </p:sp>
      <p:sp>
        <p:nvSpPr>
          <p:cNvPr id="40" name="Shape 38"/>
          <p:cNvSpPr/>
          <p:nvPr/>
        </p:nvSpPr>
        <p:spPr>
          <a:xfrm>
            <a:off x="3192628" y="5532120"/>
            <a:ext cx="1325880" cy="54864"/>
          </a:xfrm>
          <a:prstGeom prst="rect">
            <a:avLst/>
          </a:prstGeom>
          <a:solidFill>
            <a:srgbClr val="6B6B6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41" name="Text 39"/>
          <p:cNvSpPr/>
          <p:nvPr/>
        </p:nvSpPr>
        <p:spPr>
          <a:xfrm>
            <a:off x="2826868" y="61722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/>
          </a:p>
        </p:txBody>
      </p:sp>
      <p:sp>
        <p:nvSpPr>
          <p:cNvPr id="42" name="Shape 40"/>
          <p:cNvSpPr/>
          <p:nvPr/>
        </p:nvSpPr>
        <p:spPr>
          <a:xfrm>
            <a:off x="5067148" y="1920240"/>
            <a:ext cx="2057400" cy="4114800"/>
          </a:xfrm>
          <a:prstGeom prst="rect">
            <a:avLst/>
          </a:prstGeom>
          <a:solidFill>
            <a:srgbClr val="2C2C2A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43" name="Shape 41"/>
          <p:cNvSpPr/>
          <p:nvPr/>
        </p:nvSpPr>
        <p:spPr>
          <a:xfrm>
            <a:off x="5140300" y="2057400"/>
            <a:ext cx="1911096" cy="3840480"/>
          </a:xfrm>
          <a:prstGeom prst="rect">
            <a:avLst/>
          </a:prstGeom>
          <a:solidFill>
            <a:srgbClr val="FFF8F1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44" name="Shape 42"/>
          <p:cNvSpPr/>
          <p:nvPr/>
        </p:nvSpPr>
        <p:spPr>
          <a:xfrm>
            <a:off x="5140300" y="2057400"/>
            <a:ext cx="1911096" cy="164592"/>
          </a:xfrm>
          <a:prstGeom prst="rect">
            <a:avLst/>
          </a:prstGeom>
          <a:solidFill>
            <a:srgbClr val="2C2C2A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45" name="Shape 43"/>
          <p:cNvSpPr/>
          <p:nvPr/>
        </p:nvSpPr>
        <p:spPr>
          <a:xfrm>
            <a:off x="5140300" y="2221992"/>
            <a:ext cx="1911096" cy="4114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46" name="Text 44"/>
          <p:cNvSpPr/>
          <p:nvPr/>
        </p:nvSpPr>
        <p:spPr>
          <a:xfrm>
            <a:off x="5140300" y="2221992"/>
            <a:ext cx="1911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Ingredients</a:t>
            </a:r>
            <a:endParaRPr lang="en-US" sz="1100"/>
          </a:p>
        </p:txBody>
      </p:sp>
      <p:sp>
        <p:nvSpPr>
          <p:cNvPr id="47" name="Shape 45"/>
          <p:cNvSpPr/>
          <p:nvPr/>
        </p:nvSpPr>
        <p:spPr>
          <a:xfrm>
            <a:off x="5250028" y="2834640"/>
            <a:ext cx="16916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48" name="Shape 46"/>
          <p:cNvSpPr/>
          <p:nvPr/>
        </p:nvSpPr>
        <p:spPr>
          <a:xfrm>
            <a:off x="5341468" y="2999232"/>
            <a:ext cx="128016" cy="128016"/>
          </a:xfrm>
          <a:prstGeom prst="ellipse">
            <a:avLst/>
          </a:prstGeom>
          <a:solidFill>
            <a:srgbClr val="97C459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49" name="Text 47"/>
          <p:cNvSpPr/>
          <p:nvPr/>
        </p:nvSpPr>
        <p:spPr>
          <a:xfrm>
            <a:off x="5524348" y="28803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chips</a:t>
            </a:r>
            <a:endParaRPr lang="en-US" sz="800"/>
          </a:p>
        </p:txBody>
      </p:sp>
      <p:sp>
        <p:nvSpPr>
          <p:cNvPr id="50" name="Shape 48"/>
          <p:cNvSpPr/>
          <p:nvPr/>
        </p:nvSpPr>
        <p:spPr>
          <a:xfrm>
            <a:off x="5250028" y="3429000"/>
            <a:ext cx="1691640" cy="457200"/>
          </a:xfrm>
          <a:prstGeom prst="rect">
            <a:avLst/>
          </a:prstGeom>
          <a:solidFill>
            <a:srgbClr val="F4F8EB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51" name="Shape 49"/>
          <p:cNvSpPr/>
          <p:nvPr/>
        </p:nvSpPr>
        <p:spPr>
          <a:xfrm>
            <a:off x="5341468" y="3593592"/>
            <a:ext cx="128016" cy="128016"/>
          </a:xfrm>
          <a:prstGeom prst="ellipse">
            <a:avLst/>
          </a:prstGeom>
          <a:solidFill>
            <a:srgbClr val="97C459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52" name="Text 50"/>
          <p:cNvSpPr/>
          <p:nvPr/>
        </p:nvSpPr>
        <p:spPr>
          <a:xfrm>
            <a:off x="5524348" y="34747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dots</a:t>
            </a:r>
            <a:endParaRPr lang="en-US" sz="800"/>
          </a:p>
        </p:txBody>
      </p:sp>
      <p:sp>
        <p:nvSpPr>
          <p:cNvPr id="53" name="Shape 51"/>
          <p:cNvSpPr/>
          <p:nvPr/>
        </p:nvSpPr>
        <p:spPr>
          <a:xfrm>
            <a:off x="5250028" y="4023360"/>
            <a:ext cx="16916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54" name="Shape 52"/>
          <p:cNvSpPr/>
          <p:nvPr/>
        </p:nvSpPr>
        <p:spPr>
          <a:xfrm>
            <a:off x="5341468" y="4187952"/>
            <a:ext cx="128016" cy="128016"/>
          </a:xfrm>
          <a:prstGeom prst="ellipse">
            <a:avLst/>
          </a:prstGeom>
          <a:solidFill>
            <a:srgbClr val="97C459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55" name="Text 53"/>
          <p:cNvSpPr/>
          <p:nvPr/>
        </p:nvSpPr>
        <p:spPr>
          <a:xfrm>
            <a:off x="5524348" y="40690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manually</a:t>
            </a:r>
            <a:endParaRPr lang="en-US" sz="800"/>
          </a:p>
        </p:txBody>
      </p:sp>
      <p:sp>
        <p:nvSpPr>
          <p:cNvPr id="56" name="Shape 54"/>
          <p:cNvSpPr/>
          <p:nvPr/>
        </p:nvSpPr>
        <p:spPr>
          <a:xfrm>
            <a:off x="5250028" y="4617720"/>
            <a:ext cx="1691640" cy="457200"/>
          </a:xfrm>
          <a:prstGeom prst="rect">
            <a:avLst/>
          </a:prstGeom>
          <a:solidFill>
            <a:srgbClr val="F4F8EB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57" name="Shape 55"/>
          <p:cNvSpPr/>
          <p:nvPr/>
        </p:nvSpPr>
        <p:spPr>
          <a:xfrm>
            <a:off x="5341468" y="4782312"/>
            <a:ext cx="128016" cy="128016"/>
          </a:xfrm>
          <a:prstGeom prst="ellipse">
            <a:avLst/>
          </a:prstGeom>
          <a:solidFill>
            <a:srgbClr val="97C459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58" name="Text 56"/>
          <p:cNvSpPr/>
          <p:nvPr/>
        </p:nvSpPr>
        <p:spPr>
          <a:xfrm>
            <a:off x="5524348" y="46634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Diet prefs</a:t>
            </a:r>
            <a:endParaRPr lang="en-US" sz="800"/>
          </a:p>
        </p:txBody>
      </p:sp>
      <p:sp>
        <p:nvSpPr>
          <p:cNvPr id="59" name="Shape 57"/>
          <p:cNvSpPr/>
          <p:nvPr/>
        </p:nvSpPr>
        <p:spPr>
          <a:xfrm>
            <a:off x="5432908" y="5532120"/>
            <a:ext cx="1325880" cy="54864"/>
          </a:xfrm>
          <a:prstGeom prst="rect">
            <a:avLst/>
          </a:prstGeom>
          <a:solidFill>
            <a:srgbClr val="6B6B6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60" name="Text 58"/>
          <p:cNvSpPr/>
          <p:nvPr/>
        </p:nvSpPr>
        <p:spPr>
          <a:xfrm>
            <a:off x="5067148" y="61722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/>
          </a:p>
        </p:txBody>
      </p:sp>
      <p:sp>
        <p:nvSpPr>
          <p:cNvPr id="61" name="Shape 59"/>
          <p:cNvSpPr/>
          <p:nvPr/>
        </p:nvSpPr>
        <p:spPr>
          <a:xfrm>
            <a:off x="7307428" y="1920240"/>
            <a:ext cx="2057400" cy="4114800"/>
          </a:xfrm>
          <a:prstGeom prst="rect">
            <a:avLst/>
          </a:prstGeom>
          <a:solidFill>
            <a:srgbClr val="2C2C2A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62" name="Shape 60"/>
          <p:cNvSpPr/>
          <p:nvPr/>
        </p:nvSpPr>
        <p:spPr>
          <a:xfrm>
            <a:off x="7380580" y="2057400"/>
            <a:ext cx="1911096" cy="3840480"/>
          </a:xfrm>
          <a:prstGeom prst="rect">
            <a:avLst/>
          </a:prstGeom>
          <a:solidFill>
            <a:srgbClr val="FFF8F1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63" name="Shape 61"/>
          <p:cNvSpPr/>
          <p:nvPr/>
        </p:nvSpPr>
        <p:spPr>
          <a:xfrm>
            <a:off x="7380580" y="2057400"/>
            <a:ext cx="1911096" cy="164592"/>
          </a:xfrm>
          <a:prstGeom prst="rect">
            <a:avLst/>
          </a:prstGeom>
          <a:solidFill>
            <a:srgbClr val="2C2C2A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64" name="Shape 62"/>
          <p:cNvSpPr/>
          <p:nvPr/>
        </p:nvSpPr>
        <p:spPr>
          <a:xfrm>
            <a:off x="7380580" y="2221992"/>
            <a:ext cx="1911096" cy="4114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65" name="Text 63"/>
          <p:cNvSpPr/>
          <p:nvPr/>
        </p:nvSpPr>
        <p:spPr>
          <a:xfrm>
            <a:off x="7380580" y="2221992"/>
            <a:ext cx="1911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Recipes</a:t>
            </a:r>
            <a:endParaRPr lang="en-US" sz="1100"/>
          </a:p>
        </p:txBody>
      </p:sp>
      <p:sp>
        <p:nvSpPr>
          <p:cNvPr id="66" name="Shape 64"/>
          <p:cNvSpPr/>
          <p:nvPr/>
        </p:nvSpPr>
        <p:spPr>
          <a:xfrm>
            <a:off x="7490308" y="2834640"/>
            <a:ext cx="16916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67" name="Shape 65"/>
          <p:cNvSpPr/>
          <p:nvPr/>
        </p:nvSpPr>
        <p:spPr>
          <a:xfrm>
            <a:off x="7581748" y="2999232"/>
            <a:ext cx="128016" cy="128016"/>
          </a:xfrm>
          <a:prstGeom prst="ellipse">
            <a:avLst/>
          </a:prstGeom>
          <a:solidFill>
            <a:srgbClr val="97C459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68" name="Text 66"/>
          <p:cNvSpPr/>
          <p:nvPr/>
        </p:nvSpPr>
        <p:spPr>
          <a:xfrm>
            <a:off x="7764628" y="28803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AI suggestions</a:t>
            </a:r>
            <a:endParaRPr lang="en-US" sz="800"/>
          </a:p>
        </p:txBody>
      </p:sp>
      <p:sp>
        <p:nvSpPr>
          <p:cNvPr id="69" name="Shape 67"/>
          <p:cNvSpPr/>
          <p:nvPr/>
        </p:nvSpPr>
        <p:spPr>
          <a:xfrm>
            <a:off x="7490308" y="3429000"/>
            <a:ext cx="1691640" cy="457200"/>
          </a:xfrm>
          <a:prstGeom prst="rect">
            <a:avLst/>
          </a:prstGeom>
          <a:solidFill>
            <a:srgbClr val="F4F8EB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70" name="Shape 68"/>
          <p:cNvSpPr/>
          <p:nvPr/>
        </p:nvSpPr>
        <p:spPr>
          <a:xfrm>
            <a:off x="7581748" y="3593592"/>
            <a:ext cx="128016" cy="128016"/>
          </a:xfrm>
          <a:prstGeom prst="ellipse">
            <a:avLst/>
          </a:prstGeom>
          <a:solidFill>
            <a:srgbClr val="97C459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71" name="Text 69"/>
          <p:cNvSpPr/>
          <p:nvPr/>
        </p:nvSpPr>
        <p:spPr>
          <a:xfrm>
            <a:off x="7764628" y="34747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%</a:t>
            </a:r>
            <a:endParaRPr lang="en-US" sz="800"/>
          </a:p>
        </p:txBody>
      </p:sp>
      <p:sp>
        <p:nvSpPr>
          <p:cNvPr id="72" name="Shape 70"/>
          <p:cNvSpPr/>
          <p:nvPr/>
        </p:nvSpPr>
        <p:spPr>
          <a:xfrm>
            <a:off x="7490308" y="4023360"/>
            <a:ext cx="16916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73" name="Shape 71"/>
          <p:cNvSpPr/>
          <p:nvPr/>
        </p:nvSpPr>
        <p:spPr>
          <a:xfrm>
            <a:off x="7581748" y="4187952"/>
            <a:ext cx="128016" cy="128016"/>
          </a:xfrm>
          <a:prstGeom prst="ellipse">
            <a:avLst/>
          </a:prstGeom>
          <a:solidFill>
            <a:srgbClr val="97C459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74" name="Text 72"/>
          <p:cNvSpPr/>
          <p:nvPr/>
        </p:nvSpPr>
        <p:spPr>
          <a:xfrm>
            <a:off x="7764628" y="40690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pills</a:t>
            </a:r>
            <a:endParaRPr lang="en-US" sz="800"/>
          </a:p>
        </p:txBody>
      </p:sp>
      <p:sp>
        <p:nvSpPr>
          <p:cNvPr id="75" name="Shape 73"/>
          <p:cNvSpPr/>
          <p:nvPr/>
        </p:nvSpPr>
        <p:spPr>
          <a:xfrm>
            <a:off x="7490308" y="4617720"/>
            <a:ext cx="1691640" cy="457200"/>
          </a:xfrm>
          <a:prstGeom prst="rect">
            <a:avLst/>
          </a:prstGeom>
          <a:solidFill>
            <a:srgbClr val="F4F8EB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76" name="Shape 74"/>
          <p:cNvSpPr/>
          <p:nvPr/>
        </p:nvSpPr>
        <p:spPr>
          <a:xfrm>
            <a:off x="7581748" y="4782312"/>
            <a:ext cx="128016" cy="128016"/>
          </a:xfrm>
          <a:prstGeom prst="ellipse">
            <a:avLst/>
          </a:prstGeom>
          <a:solidFill>
            <a:srgbClr val="97C459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77" name="Text 75"/>
          <p:cNvSpPr/>
          <p:nvPr/>
        </p:nvSpPr>
        <p:spPr>
          <a:xfrm>
            <a:off x="7764628" y="46634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photos</a:t>
            </a:r>
            <a:endParaRPr lang="en-US" sz="800"/>
          </a:p>
        </p:txBody>
      </p:sp>
      <p:sp>
        <p:nvSpPr>
          <p:cNvPr id="78" name="Shape 76"/>
          <p:cNvSpPr/>
          <p:nvPr/>
        </p:nvSpPr>
        <p:spPr>
          <a:xfrm>
            <a:off x="7673188" y="5532120"/>
            <a:ext cx="1325880" cy="54864"/>
          </a:xfrm>
          <a:prstGeom prst="rect">
            <a:avLst/>
          </a:prstGeom>
          <a:solidFill>
            <a:srgbClr val="6B6B6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79" name="Text 77"/>
          <p:cNvSpPr/>
          <p:nvPr/>
        </p:nvSpPr>
        <p:spPr>
          <a:xfrm>
            <a:off x="7307428" y="61722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/>
          </a:p>
        </p:txBody>
      </p:sp>
      <p:sp>
        <p:nvSpPr>
          <p:cNvPr id="80" name="Shape 78"/>
          <p:cNvSpPr/>
          <p:nvPr/>
        </p:nvSpPr>
        <p:spPr>
          <a:xfrm>
            <a:off x="9547708" y="1920240"/>
            <a:ext cx="2057400" cy="4114800"/>
          </a:xfrm>
          <a:prstGeom prst="rect">
            <a:avLst/>
          </a:prstGeom>
          <a:solidFill>
            <a:srgbClr val="2C2C2A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81" name="Shape 79"/>
          <p:cNvSpPr/>
          <p:nvPr/>
        </p:nvSpPr>
        <p:spPr>
          <a:xfrm>
            <a:off x="9620860" y="2057400"/>
            <a:ext cx="1911096" cy="3840480"/>
          </a:xfrm>
          <a:prstGeom prst="rect">
            <a:avLst/>
          </a:prstGeom>
          <a:solidFill>
            <a:srgbClr val="FFF8F1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82" name="Shape 80"/>
          <p:cNvSpPr/>
          <p:nvPr/>
        </p:nvSpPr>
        <p:spPr>
          <a:xfrm>
            <a:off x="9620860" y="2057400"/>
            <a:ext cx="1911096" cy="164592"/>
          </a:xfrm>
          <a:prstGeom prst="rect">
            <a:avLst/>
          </a:prstGeom>
          <a:solidFill>
            <a:srgbClr val="2C2C2A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83" name="Shape 81"/>
          <p:cNvSpPr/>
          <p:nvPr/>
        </p:nvSpPr>
        <p:spPr>
          <a:xfrm>
            <a:off x="9620860" y="2221992"/>
            <a:ext cx="1911096" cy="4114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84" name="Text 82"/>
          <p:cNvSpPr/>
          <p:nvPr/>
        </p:nvSpPr>
        <p:spPr>
          <a:xfrm>
            <a:off x="9620860" y="2221992"/>
            <a:ext cx="1911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100"/>
          </a:p>
        </p:txBody>
      </p:sp>
      <p:sp>
        <p:nvSpPr>
          <p:cNvPr id="85" name="Shape 83"/>
          <p:cNvSpPr/>
          <p:nvPr/>
        </p:nvSpPr>
        <p:spPr>
          <a:xfrm>
            <a:off x="9730588" y="2834640"/>
            <a:ext cx="16916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86" name="Shape 84"/>
          <p:cNvSpPr/>
          <p:nvPr/>
        </p:nvSpPr>
        <p:spPr>
          <a:xfrm>
            <a:off x="9822028" y="2999232"/>
            <a:ext cx="128016" cy="128016"/>
          </a:xfrm>
          <a:prstGeom prst="ellipse">
            <a:avLst/>
          </a:prstGeom>
          <a:solidFill>
            <a:srgbClr val="97C459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87" name="Text 85"/>
          <p:cNvSpPr/>
          <p:nvPr/>
        </p:nvSpPr>
        <p:spPr>
          <a:xfrm>
            <a:off x="10004908" y="28803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instructions</a:t>
            </a:r>
            <a:endParaRPr lang="en-US" sz="800"/>
          </a:p>
        </p:txBody>
      </p:sp>
      <p:sp>
        <p:nvSpPr>
          <p:cNvPr id="88" name="Shape 86"/>
          <p:cNvSpPr/>
          <p:nvPr/>
        </p:nvSpPr>
        <p:spPr>
          <a:xfrm>
            <a:off x="9730588" y="3429000"/>
            <a:ext cx="1691640" cy="457200"/>
          </a:xfrm>
          <a:prstGeom prst="rect">
            <a:avLst/>
          </a:prstGeom>
          <a:solidFill>
            <a:srgbClr val="F4F8EB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89" name="Shape 87"/>
          <p:cNvSpPr/>
          <p:nvPr/>
        </p:nvSpPr>
        <p:spPr>
          <a:xfrm>
            <a:off x="9822028" y="3593592"/>
            <a:ext cx="128016" cy="128016"/>
          </a:xfrm>
          <a:prstGeom prst="ellipse">
            <a:avLst/>
          </a:prstGeom>
          <a:solidFill>
            <a:srgbClr val="97C459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90" name="Text 88"/>
          <p:cNvSpPr/>
          <p:nvPr/>
        </p:nvSpPr>
        <p:spPr>
          <a:xfrm>
            <a:off x="10004908" y="34747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 impact</a:t>
            </a:r>
            <a:endParaRPr lang="en-US" sz="800"/>
          </a:p>
        </p:txBody>
      </p:sp>
      <p:sp>
        <p:nvSpPr>
          <p:cNvPr id="91" name="Shape 89"/>
          <p:cNvSpPr/>
          <p:nvPr/>
        </p:nvSpPr>
        <p:spPr>
          <a:xfrm>
            <a:off x="9730588" y="4023360"/>
            <a:ext cx="16916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92" name="Shape 90"/>
          <p:cNvSpPr/>
          <p:nvPr/>
        </p:nvSpPr>
        <p:spPr>
          <a:xfrm>
            <a:off x="9822028" y="4187952"/>
            <a:ext cx="128016" cy="128016"/>
          </a:xfrm>
          <a:prstGeom prst="ellipse">
            <a:avLst/>
          </a:prstGeom>
          <a:solidFill>
            <a:srgbClr val="97C459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93" name="Text 91"/>
          <p:cNvSpPr/>
          <p:nvPr/>
        </p:nvSpPr>
        <p:spPr>
          <a:xfrm>
            <a:off x="10004908" y="40690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Shopping list</a:t>
            </a:r>
            <a:endParaRPr lang="en-US" sz="800"/>
          </a:p>
        </p:txBody>
      </p:sp>
      <p:sp>
        <p:nvSpPr>
          <p:cNvPr id="94" name="Shape 92"/>
          <p:cNvSpPr/>
          <p:nvPr/>
        </p:nvSpPr>
        <p:spPr>
          <a:xfrm>
            <a:off x="9730588" y="4617720"/>
            <a:ext cx="1691640" cy="457200"/>
          </a:xfrm>
          <a:prstGeom prst="rect">
            <a:avLst/>
          </a:prstGeom>
          <a:solidFill>
            <a:srgbClr val="F4F8EB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95" name="Shape 93"/>
          <p:cNvSpPr/>
          <p:nvPr/>
        </p:nvSpPr>
        <p:spPr>
          <a:xfrm>
            <a:off x="9822028" y="4782312"/>
            <a:ext cx="128016" cy="128016"/>
          </a:xfrm>
          <a:prstGeom prst="ellipse">
            <a:avLst/>
          </a:prstGeom>
          <a:solidFill>
            <a:srgbClr val="97C459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96" name="Text 94"/>
          <p:cNvSpPr/>
          <p:nvPr/>
        </p:nvSpPr>
        <p:spPr>
          <a:xfrm>
            <a:off x="10004908" y="46634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/ share</a:t>
            </a:r>
            <a:endParaRPr lang="en-US" sz="800"/>
          </a:p>
        </p:txBody>
      </p:sp>
      <p:sp>
        <p:nvSpPr>
          <p:cNvPr id="97" name="Shape 95"/>
          <p:cNvSpPr/>
          <p:nvPr/>
        </p:nvSpPr>
        <p:spPr>
          <a:xfrm>
            <a:off x="9913468" y="5532120"/>
            <a:ext cx="1325880" cy="54864"/>
          </a:xfrm>
          <a:prstGeom prst="rect">
            <a:avLst/>
          </a:prstGeom>
          <a:solidFill>
            <a:srgbClr val="6B6B6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98" name="Text 96"/>
          <p:cNvSpPr/>
          <p:nvPr/>
        </p:nvSpPr>
        <p:spPr>
          <a:xfrm>
            <a:off x="9547708" y="61722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/>
          </a:p>
        </p:txBody>
      </p:sp>
      <p:sp>
        <p:nvSpPr>
          <p:cNvPr id="99" name="Text 97"/>
          <p:cNvSpPr/>
          <p:nvPr/>
        </p:nvSpPr>
        <p:spPr>
          <a:xfrm>
            <a:off x="45720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ecoBite</a:t>
            </a:r>
            <a:endParaRPr lang="en-US" sz="900"/>
          </a:p>
        </p:txBody>
      </p:sp>
      <p:sp>
        <p:nvSpPr>
          <p:cNvPr id="100" name="Text 9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Who We Help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people, measurable impact</a:t>
            </a:r>
            <a:endParaRPr lang="en-US" sz="320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benefits</a:t>
            </a:r>
            <a:endParaRPr lang="en-US" sz="180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521208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D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91440" cy="10972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7" name="Text 5"/>
          <p:cNvSpPr/>
          <p:nvPr/>
        </p:nvSpPr>
        <p:spPr>
          <a:xfrm>
            <a:off x="914400" y="2514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Housewives</a:t>
            </a:r>
            <a:endParaRPr lang="en-US" sz="1500"/>
          </a:p>
        </p:txBody>
      </p:sp>
      <p:sp>
        <p:nvSpPr>
          <p:cNvPr id="8" name="Text 6"/>
          <p:cNvSpPr/>
          <p:nvPr/>
        </p:nvSpPr>
        <p:spPr>
          <a:xfrm>
            <a:off x="914400" y="28803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cooks managing a family budget</a:t>
            </a:r>
            <a:endParaRPr lang="en-US" sz="1100"/>
          </a:p>
        </p:txBody>
      </p:sp>
      <p:sp>
        <p:nvSpPr>
          <p:cNvPr id="9" name="Text 7"/>
          <p:cNvSpPr/>
          <p:nvPr/>
        </p:nvSpPr>
        <p:spPr>
          <a:xfrm>
            <a:off x="914400" y="3154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10M+ in Malaysia</a:t>
            </a:r>
            <a:endParaRPr lang="en-US" sz="1100"/>
          </a:p>
        </p:txBody>
      </p:sp>
      <p:sp>
        <p:nvSpPr>
          <p:cNvPr id="10" name="Shape 8"/>
          <p:cNvSpPr/>
          <p:nvPr/>
        </p:nvSpPr>
        <p:spPr>
          <a:xfrm>
            <a:off x="640080" y="3657600"/>
            <a:ext cx="521208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D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" name="Shape 9"/>
          <p:cNvSpPr/>
          <p:nvPr/>
        </p:nvSpPr>
        <p:spPr>
          <a:xfrm>
            <a:off x="640080" y="3657600"/>
            <a:ext cx="91440" cy="10972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2" name="Text 10"/>
          <p:cNvSpPr/>
          <p:nvPr/>
        </p:nvSpPr>
        <p:spPr>
          <a:xfrm>
            <a:off x="914400" y="3794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professionals</a:t>
            </a:r>
            <a:endParaRPr lang="en-US" sz="1500"/>
          </a:p>
        </p:txBody>
      </p:sp>
      <p:sp>
        <p:nvSpPr>
          <p:cNvPr id="13" name="Text 11"/>
          <p:cNvSpPr/>
          <p:nvPr/>
        </p:nvSpPr>
        <p:spPr>
          <a:xfrm>
            <a:off x="914400" y="41605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Time-strapped, want quick healthy meals</a:t>
            </a:r>
            <a:endParaRPr lang="en-US" sz="1100"/>
          </a:p>
        </p:txBody>
      </p:sp>
      <p:sp>
        <p:nvSpPr>
          <p:cNvPr id="14" name="Text 12"/>
          <p:cNvSpPr/>
          <p:nvPr/>
        </p:nvSpPr>
        <p:spPr>
          <a:xfrm>
            <a:off x="9144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5M+ urban Malaysians</a:t>
            </a:r>
            <a:endParaRPr lang="en-US" sz="1100"/>
          </a:p>
        </p:txBody>
      </p:sp>
      <p:sp>
        <p:nvSpPr>
          <p:cNvPr id="15" name="Shape 13"/>
          <p:cNvSpPr/>
          <p:nvPr/>
        </p:nvSpPr>
        <p:spPr>
          <a:xfrm>
            <a:off x="640080" y="4937760"/>
            <a:ext cx="521208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D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91440" cy="10972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7" name="Text 15"/>
          <p:cNvSpPr/>
          <p:nvPr/>
        </p:nvSpPr>
        <p:spPr>
          <a:xfrm>
            <a:off x="914400" y="50749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Eco-conscious students</a:t>
            </a:r>
            <a:endParaRPr lang="en-US" sz="1500"/>
          </a:p>
        </p:txBody>
      </p:sp>
      <p:sp>
        <p:nvSpPr>
          <p:cNvPr id="18" name="Text 16"/>
          <p:cNvSpPr/>
          <p:nvPr/>
        </p:nvSpPr>
        <p:spPr>
          <a:xfrm>
            <a:off x="914400" y="5440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to live sustainably on a budget</a:t>
            </a:r>
            <a:endParaRPr lang="en-US" sz="1100"/>
          </a:p>
        </p:txBody>
      </p:sp>
      <p:sp>
        <p:nvSpPr>
          <p:cNvPr id="19" name="Text 17"/>
          <p:cNvSpPr/>
          <p:nvPr/>
        </p:nvSpPr>
        <p:spPr>
          <a:xfrm>
            <a:off x="91440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1.2M tertiary students</a:t>
            </a:r>
            <a:endParaRPr lang="en-US" sz="1100"/>
          </a:p>
        </p:txBody>
      </p:sp>
      <p:sp>
        <p:nvSpPr>
          <p:cNvPr id="20" name="Text 18"/>
          <p:cNvSpPr/>
          <p:nvPr/>
        </p:nvSpPr>
        <p:spPr>
          <a:xfrm>
            <a:off x="6400800" y="1920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household / year</a:t>
            </a:r>
            <a:endParaRPr lang="en-US" sz="1800"/>
          </a:p>
        </p:txBody>
      </p:sp>
      <p:sp>
        <p:nvSpPr>
          <p:cNvPr id="21" name="Shape 19"/>
          <p:cNvSpPr/>
          <p:nvPr/>
        </p:nvSpPr>
        <p:spPr>
          <a:xfrm>
            <a:off x="6400800" y="2377440"/>
            <a:ext cx="5120640" cy="1097280"/>
          </a:xfrm>
          <a:prstGeom prst="rect">
            <a:avLst/>
          </a:prstGeom>
          <a:solidFill>
            <a:srgbClr val="F4F8EB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22" name="Text 20"/>
          <p:cNvSpPr/>
          <p:nvPr/>
        </p:nvSpPr>
        <p:spPr>
          <a:xfrm>
            <a:off x="6583680" y="24688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1,200</a:t>
            </a:r>
            <a:endParaRPr lang="en-US" sz="3600"/>
          </a:p>
        </p:txBody>
      </p:sp>
      <p:sp>
        <p:nvSpPr>
          <p:cNvPr id="23" name="Text 21"/>
          <p:cNvSpPr/>
          <p:nvPr/>
        </p:nvSpPr>
        <p:spPr>
          <a:xfrm>
            <a:off x="9509760" y="24688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on groceries</a:t>
            </a:r>
            <a:endParaRPr lang="en-US" sz="1200"/>
          </a:p>
        </p:txBody>
      </p:sp>
      <p:sp>
        <p:nvSpPr>
          <p:cNvPr id="24" name="Shape 22"/>
          <p:cNvSpPr/>
          <p:nvPr/>
        </p:nvSpPr>
        <p:spPr>
          <a:xfrm>
            <a:off x="6400800" y="3657600"/>
            <a:ext cx="5120640" cy="1097280"/>
          </a:xfrm>
          <a:prstGeom prst="rect">
            <a:avLst/>
          </a:prstGeom>
          <a:solidFill>
            <a:srgbClr val="F4F8EB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25" name="Text 23"/>
          <p:cNvSpPr/>
          <p:nvPr/>
        </p:nvSpPr>
        <p:spPr>
          <a:xfrm>
            <a:off x="6583680" y="37490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kg</a:t>
            </a:r>
            <a:endParaRPr lang="en-US" sz="3600"/>
          </a:p>
        </p:txBody>
      </p:sp>
      <p:sp>
        <p:nvSpPr>
          <p:cNvPr id="26" name="Text 24"/>
          <p:cNvSpPr/>
          <p:nvPr/>
        </p:nvSpPr>
        <p:spPr>
          <a:xfrm>
            <a:off x="9509760" y="37490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rescued from bin</a:t>
            </a:r>
            <a:endParaRPr lang="en-US" sz="1200"/>
          </a:p>
        </p:txBody>
      </p:sp>
      <p:sp>
        <p:nvSpPr>
          <p:cNvPr id="27" name="Shape 25"/>
          <p:cNvSpPr/>
          <p:nvPr/>
        </p:nvSpPr>
        <p:spPr>
          <a:xfrm>
            <a:off x="6400800" y="4937760"/>
            <a:ext cx="5120640" cy="1097280"/>
          </a:xfrm>
          <a:prstGeom prst="rect">
            <a:avLst/>
          </a:prstGeom>
          <a:solidFill>
            <a:srgbClr val="F4F8EB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28" name="Text 26"/>
          <p:cNvSpPr/>
          <p:nvPr/>
        </p:nvSpPr>
        <p:spPr>
          <a:xfrm>
            <a:off x="6583680" y="5029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kg</a:t>
            </a:r>
            <a:endParaRPr lang="en-US" sz="3600"/>
          </a:p>
        </p:txBody>
      </p:sp>
      <p:sp>
        <p:nvSpPr>
          <p:cNvPr id="29" name="Text 27"/>
          <p:cNvSpPr/>
          <p:nvPr/>
        </p:nvSpPr>
        <p:spPr>
          <a:xfrm>
            <a:off x="9509760" y="50292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emissions avoided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45720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ecoBite</a:t>
            </a:r>
            <a:endParaRPr lang="en-US" sz="900"/>
          </a:p>
        </p:txBody>
      </p:sp>
      <p:sp>
        <p:nvSpPr>
          <p:cNvPr id="31" name="Text 29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Risks &amp; Mitigation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We've thought hard about what could go wrong</a:t>
            </a:r>
            <a:endParaRPr lang="en-US" sz="320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49240" cy="45720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5" name="Text 3"/>
          <p:cNvSpPr/>
          <p:nvPr/>
        </p:nvSpPr>
        <p:spPr>
          <a:xfrm>
            <a:off x="82296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100"/>
          </a:p>
        </p:txBody>
      </p:sp>
      <p:sp>
        <p:nvSpPr>
          <p:cNvPr id="6" name="Shape 4"/>
          <p:cNvSpPr/>
          <p:nvPr/>
        </p:nvSpPr>
        <p:spPr>
          <a:xfrm>
            <a:off x="6126480" y="1920240"/>
            <a:ext cx="5422392" cy="45720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7" name="Text 5"/>
          <p:cNvSpPr/>
          <p:nvPr/>
        </p:nvSpPr>
        <p:spPr>
          <a:xfrm>
            <a:off x="630936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1100"/>
          </a:p>
        </p:txBody>
      </p:sp>
      <p:sp>
        <p:nvSpPr>
          <p:cNvPr id="8" name="Shape 6"/>
          <p:cNvSpPr/>
          <p:nvPr/>
        </p:nvSpPr>
        <p:spPr>
          <a:xfrm>
            <a:off x="640080" y="2377440"/>
            <a:ext cx="5349240" cy="7772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9" name="Text 7"/>
          <p:cNvSpPr/>
          <p:nvPr/>
        </p:nvSpPr>
        <p:spPr>
          <a:xfrm>
            <a:off x="822960" y="242316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misidentifies ingredients</a:t>
            </a:r>
            <a:endParaRPr lang="en-US" sz="1300"/>
          </a:p>
        </p:txBody>
      </p:sp>
      <p:sp>
        <p:nvSpPr>
          <p:cNvPr id="10" name="Shape 8"/>
          <p:cNvSpPr/>
          <p:nvPr/>
        </p:nvSpPr>
        <p:spPr>
          <a:xfrm>
            <a:off x="6126480" y="2377440"/>
            <a:ext cx="5422392" cy="7772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1" name="Text 9"/>
          <p:cNvSpPr/>
          <p:nvPr/>
        </p:nvSpPr>
        <p:spPr>
          <a:xfrm>
            <a:off x="6309360" y="242316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scores shown to user; chips are tap-to-remove; manual add input always available.</a:t>
            </a:r>
            <a:endParaRPr lang="en-US" sz="1100"/>
          </a:p>
        </p:txBody>
      </p:sp>
      <p:sp>
        <p:nvSpPr>
          <p:cNvPr id="12" name="Shape 10"/>
          <p:cNvSpPr/>
          <p:nvPr/>
        </p:nvSpPr>
        <p:spPr>
          <a:xfrm>
            <a:off x="640080" y="3154680"/>
            <a:ext cx="5349240" cy="777240"/>
          </a:xfrm>
          <a:prstGeom prst="rect">
            <a:avLst/>
          </a:prstGeom>
          <a:solidFill>
            <a:srgbClr val="F4F8EB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3" name="Text 11"/>
          <p:cNvSpPr/>
          <p:nvPr/>
        </p:nvSpPr>
        <p:spPr>
          <a:xfrm>
            <a:off x="822960" y="320040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costs scale with usage</a:t>
            </a:r>
            <a:endParaRPr lang="en-US" sz="1300"/>
          </a:p>
        </p:txBody>
      </p:sp>
      <p:sp>
        <p:nvSpPr>
          <p:cNvPr id="14" name="Shape 12"/>
          <p:cNvSpPr/>
          <p:nvPr/>
        </p:nvSpPr>
        <p:spPr>
          <a:xfrm>
            <a:off x="6126480" y="3154680"/>
            <a:ext cx="5422392" cy="777240"/>
          </a:xfrm>
          <a:prstGeom prst="rect">
            <a:avLst/>
          </a:prstGeom>
          <a:solidFill>
            <a:srgbClr val="F4F8EB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5" name="Text 13"/>
          <p:cNvSpPr/>
          <p:nvPr/>
        </p:nvSpPr>
        <p:spPr>
          <a:xfrm>
            <a:off x="6309360" y="32004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repeat detections per user; offer offline fallback recipe library; freemium model after MVP.</a:t>
            </a:r>
            <a:endParaRPr lang="en-US" sz="1100"/>
          </a:p>
        </p:txBody>
      </p:sp>
      <p:sp>
        <p:nvSpPr>
          <p:cNvPr id="16" name="Shape 14"/>
          <p:cNvSpPr/>
          <p:nvPr/>
        </p:nvSpPr>
        <p:spPr>
          <a:xfrm>
            <a:off x="640080" y="3931920"/>
            <a:ext cx="5349240" cy="7772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7" name="Text 15"/>
          <p:cNvSpPr/>
          <p:nvPr/>
        </p:nvSpPr>
        <p:spPr>
          <a:xfrm>
            <a:off x="822960" y="39776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concerns over fridge photos</a:t>
            </a:r>
            <a:endParaRPr lang="en-US" sz="1300"/>
          </a:p>
        </p:txBody>
      </p:sp>
      <p:sp>
        <p:nvSpPr>
          <p:cNvPr id="18" name="Shape 16"/>
          <p:cNvSpPr/>
          <p:nvPr/>
        </p:nvSpPr>
        <p:spPr>
          <a:xfrm>
            <a:off x="6126480" y="3931920"/>
            <a:ext cx="5422392" cy="7772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9" name="Text 17"/>
          <p:cNvSpPr/>
          <p:nvPr/>
        </p:nvSpPr>
        <p:spPr>
          <a:xfrm>
            <a:off x="6309360" y="39776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processed in memory and not stored on servers; profile data stays in localStorage; opt-in only.</a:t>
            </a:r>
            <a:endParaRPr lang="en-US" sz="1100"/>
          </a:p>
        </p:txBody>
      </p:sp>
      <p:sp>
        <p:nvSpPr>
          <p:cNvPr id="20" name="Shape 18"/>
          <p:cNvSpPr/>
          <p:nvPr/>
        </p:nvSpPr>
        <p:spPr>
          <a:xfrm>
            <a:off x="640080" y="4709160"/>
            <a:ext cx="5349240" cy="777240"/>
          </a:xfrm>
          <a:prstGeom prst="rect">
            <a:avLst/>
          </a:prstGeom>
          <a:solidFill>
            <a:srgbClr val="F4F8EB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21" name="Text 19"/>
          <p:cNvSpPr/>
          <p:nvPr/>
        </p:nvSpPr>
        <p:spPr>
          <a:xfrm>
            <a:off x="822960" y="475488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Malaysian recipe coverage</a:t>
            </a:r>
            <a:endParaRPr lang="en-US" sz="1300"/>
          </a:p>
        </p:txBody>
      </p:sp>
      <p:sp>
        <p:nvSpPr>
          <p:cNvPr id="22" name="Shape 20"/>
          <p:cNvSpPr/>
          <p:nvPr/>
        </p:nvSpPr>
        <p:spPr>
          <a:xfrm>
            <a:off x="6126480" y="4709160"/>
            <a:ext cx="5422392" cy="777240"/>
          </a:xfrm>
          <a:prstGeom prst="rect">
            <a:avLst/>
          </a:prstGeom>
          <a:solidFill>
            <a:srgbClr val="F4F8EB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23" name="Text 21"/>
          <p:cNvSpPr/>
          <p:nvPr/>
        </p:nvSpPr>
        <p:spPr>
          <a:xfrm>
            <a:off x="6309360" y="475488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local food bloggers; expand library quarterly; let users submit family recipes.</a:t>
            </a:r>
            <a:endParaRPr lang="en-US" sz="1100"/>
          </a:p>
        </p:txBody>
      </p:sp>
      <p:sp>
        <p:nvSpPr>
          <p:cNvPr id="24" name="Shape 22"/>
          <p:cNvSpPr/>
          <p:nvPr/>
        </p:nvSpPr>
        <p:spPr>
          <a:xfrm>
            <a:off x="640080" y="5486400"/>
            <a:ext cx="5349240" cy="7772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25" name="Text 23"/>
          <p:cNvSpPr/>
          <p:nvPr/>
        </p:nvSpPr>
        <p:spPr>
          <a:xfrm>
            <a:off x="822960" y="55321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may not change habits long-term</a:t>
            </a:r>
            <a:endParaRPr lang="en-US" sz="1300"/>
          </a:p>
        </p:txBody>
      </p:sp>
      <p:sp>
        <p:nvSpPr>
          <p:cNvPr id="26" name="Shape 24"/>
          <p:cNvSpPr/>
          <p:nvPr/>
        </p:nvSpPr>
        <p:spPr>
          <a:xfrm>
            <a:off x="6126480" y="5486400"/>
            <a:ext cx="5422392" cy="7772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27" name="Text 25"/>
          <p:cNvSpPr/>
          <p:nvPr/>
        </p:nvSpPr>
        <p:spPr>
          <a:xfrm>
            <a:off x="6309360" y="55321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eco-impact dashboard; gamified streaks; family sharing leaderboard for accountability.</a:t>
            </a:r>
            <a:endParaRPr lang="en-US" sz="110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ecoBite</a:t>
            </a:r>
            <a:endParaRPr lang="en-US" sz="900"/>
          </a:p>
        </p:txBody>
      </p:sp>
      <p:sp>
        <p:nvSpPr>
          <p:cNvPr id="29" name="Text 27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Next Steps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go from here</a:t>
            </a:r>
            <a:endParaRPr lang="en-US" sz="3200"/>
          </a:p>
        </p:txBody>
      </p:sp>
      <p:sp>
        <p:nvSpPr>
          <p:cNvPr id="4" name="Shape 2"/>
          <p:cNvSpPr/>
          <p:nvPr/>
        </p:nvSpPr>
        <p:spPr>
          <a:xfrm>
            <a:off x="454000" y="2011680"/>
            <a:ext cx="269748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D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" name="Shape 3"/>
          <p:cNvSpPr/>
          <p:nvPr/>
        </p:nvSpPr>
        <p:spPr>
          <a:xfrm>
            <a:off x="454000" y="2011680"/>
            <a:ext cx="2697480" cy="100584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6" name="Text 4"/>
          <p:cNvSpPr/>
          <p:nvPr/>
        </p:nvSpPr>
        <p:spPr>
          <a:xfrm>
            <a:off x="682600" y="2148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100"/>
          </a:p>
        </p:txBody>
      </p:sp>
      <p:sp>
        <p:nvSpPr>
          <p:cNvPr id="7" name="Text 5"/>
          <p:cNvSpPr/>
          <p:nvPr/>
        </p:nvSpPr>
        <p:spPr>
          <a:xfrm>
            <a:off x="68260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launch</a:t>
            </a:r>
            <a:endParaRPr lang="en-US" sz="1800"/>
          </a:p>
        </p:txBody>
      </p:sp>
      <p:sp>
        <p:nvSpPr>
          <p:cNvPr id="8" name="Text 6"/>
          <p:cNvSpPr/>
          <p:nvPr/>
        </p:nvSpPr>
        <p:spPr>
          <a:xfrm>
            <a:off x="728320" y="3291840"/>
            <a:ext cx="2240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Malaysian housewife testers</a:t>
            </a:r>
            <a:endParaRPr lang="en-US" sz="110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 AI accuracy with real photos</a:t>
            </a:r>
            <a:endParaRPr lang="en-US" sz="110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Bahasa Malaysia translation</a:t>
            </a:r>
            <a:endParaRPr lang="en-US" sz="1100"/>
          </a:p>
        </p:txBody>
      </p:sp>
      <p:sp>
        <p:nvSpPr>
          <p:cNvPr id="9" name="Shape 7"/>
          <p:cNvSpPr/>
          <p:nvPr/>
        </p:nvSpPr>
        <p:spPr>
          <a:xfrm>
            <a:off x="3316072" y="2011680"/>
            <a:ext cx="269748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D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" name="Shape 8"/>
          <p:cNvSpPr/>
          <p:nvPr/>
        </p:nvSpPr>
        <p:spPr>
          <a:xfrm>
            <a:off x="3316072" y="2011680"/>
            <a:ext cx="2697480" cy="100584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1" name="Text 9"/>
          <p:cNvSpPr/>
          <p:nvPr/>
        </p:nvSpPr>
        <p:spPr>
          <a:xfrm>
            <a:off x="3544672" y="2148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100"/>
          </a:p>
        </p:txBody>
      </p:sp>
      <p:sp>
        <p:nvSpPr>
          <p:cNvPr id="12" name="Text 10"/>
          <p:cNvSpPr/>
          <p:nvPr/>
        </p:nvSpPr>
        <p:spPr>
          <a:xfrm>
            <a:off x="3544672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release</a:t>
            </a:r>
            <a:endParaRPr lang="en-US" sz="1800"/>
          </a:p>
        </p:txBody>
      </p:sp>
      <p:sp>
        <p:nvSpPr>
          <p:cNvPr id="13" name="Text 11"/>
          <p:cNvSpPr/>
          <p:nvPr/>
        </p:nvSpPr>
        <p:spPr>
          <a:xfrm>
            <a:off x="3590392" y="3291840"/>
            <a:ext cx="2240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Play Store + App Store launch</a:t>
            </a:r>
            <a:endParaRPr lang="en-US" sz="110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Family/group cookbook sharing</a:t>
            </a:r>
            <a:endParaRPr lang="en-US" sz="110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Halal-certified recipe filter</a:t>
            </a:r>
            <a:endParaRPr lang="en-US" sz="1100"/>
          </a:p>
        </p:txBody>
      </p:sp>
      <p:sp>
        <p:nvSpPr>
          <p:cNvPr id="14" name="Shape 12"/>
          <p:cNvSpPr/>
          <p:nvPr/>
        </p:nvSpPr>
        <p:spPr>
          <a:xfrm>
            <a:off x="6178144" y="2011680"/>
            <a:ext cx="269748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D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" name="Shape 13"/>
          <p:cNvSpPr/>
          <p:nvPr/>
        </p:nvSpPr>
        <p:spPr>
          <a:xfrm>
            <a:off x="6178144" y="2011680"/>
            <a:ext cx="2697480" cy="100584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6" name="Text 14"/>
          <p:cNvSpPr/>
          <p:nvPr/>
        </p:nvSpPr>
        <p:spPr>
          <a:xfrm>
            <a:off x="6406744" y="2148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100"/>
          </a:p>
        </p:txBody>
      </p:sp>
      <p:sp>
        <p:nvSpPr>
          <p:cNvPr id="17" name="Text 15"/>
          <p:cNvSpPr/>
          <p:nvPr/>
        </p:nvSpPr>
        <p:spPr>
          <a:xfrm>
            <a:off x="6406744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 phase</a:t>
            </a:r>
            <a:endParaRPr lang="en-US" sz="1800"/>
          </a:p>
        </p:txBody>
      </p:sp>
      <p:sp>
        <p:nvSpPr>
          <p:cNvPr id="18" name="Text 16"/>
          <p:cNvSpPr/>
          <p:nvPr/>
        </p:nvSpPr>
        <p:spPr>
          <a:xfrm>
            <a:off x="6452464" y="3291840"/>
            <a:ext cx="2240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Tesco/Lotus's grocery integrations</a:t>
            </a:r>
            <a:endParaRPr lang="en-US" sz="110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food blogger collaborations</a:t>
            </a:r>
            <a:endParaRPr lang="en-US" sz="110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recipe submissions</a:t>
            </a:r>
            <a:endParaRPr lang="en-US" sz="1100"/>
          </a:p>
        </p:txBody>
      </p:sp>
      <p:sp>
        <p:nvSpPr>
          <p:cNvPr id="19" name="Shape 17"/>
          <p:cNvSpPr/>
          <p:nvPr/>
        </p:nvSpPr>
        <p:spPr>
          <a:xfrm>
            <a:off x="9040216" y="2011680"/>
            <a:ext cx="269748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D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" name="Shape 18"/>
          <p:cNvSpPr/>
          <p:nvPr/>
        </p:nvSpPr>
        <p:spPr>
          <a:xfrm>
            <a:off x="9040216" y="2011680"/>
            <a:ext cx="2697480" cy="100584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21" name="Text 19"/>
          <p:cNvSpPr/>
          <p:nvPr/>
        </p:nvSpPr>
        <p:spPr>
          <a:xfrm>
            <a:off x="9268816" y="2148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2027</a:t>
            </a:r>
            <a:endParaRPr lang="en-US" sz="1100"/>
          </a:p>
        </p:txBody>
      </p:sp>
      <p:sp>
        <p:nvSpPr>
          <p:cNvPr id="22" name="Text 20"/>
          <p:cNvSpPr/>
          <p:nvPr/>
        </p:nvSpPr>
        <p:spPr>
          <a:xfrm>
            <a:off x="9268816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across SEA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314536" y="3291840"/>
            <a:ext cx="2240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Indonesia &amp; Philippines</a:t>
            </a:r>
            <a:endParaRPr lang="en-US" sz="110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nutritional advice (SDG 3)</a:t>
            </a:r>
            <a:endParaRPr lang="en-US" sz="110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+ NGO partnerships</a:t>
            </a:r>
            <a:endParaRPr lang="en-US" sz="110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ecoBite</a:t>
            </a:r>
            <a:endParaRPr lang="en-US" sz="900"/>
          </a:p>
        </p:txBody>
      </p:sp>
      <p:sp>
        <p:nvSpPr>
          <p:cNvPr id="25" name="Text 23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Marketing Strategy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reach 100K Malaysian households in year one</a:t>
            </a:r>
            <a:endParaRPr lang="en-US" sz="2800"/>
          </a:p>
        </p:txBody>
      </p:sp>
      <p:sp>
        <p:nvSpPr>
          <p:cNvPr id="4" name="Shape 2"/>
          <p:cNvSpPr/>
          <p:nvPr/>
        </p:nvSpPr>
        <p:spPr>
          <a:xfrm>
            <a:off x="454000" y="1783080"/>
            <a:ext cx="269748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D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" name="Shape 3"/>
          <p:cNvSpPr/>
          <p:nvPr/>
        </p:nvSpPr>
        <p:spPr>
          <a:xfrm>
            <a:off x="454000" y="1783080"/>
            <a:ext cx="2697480" cy="91440"/>
          </a:xfrm>
          <a:prstGeom prst="rect">
            <a:avLst/>
          </a:prstGeom>
          <a:solidFill>
            <a:srgbClr val="EF9F27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6" name="Text 4"/>
          <p:cNvSpPr/>
          <p:nvPr/>
        </p:nvSpPr>
        <p:spPr>
          <a:xfrm>
            <a:off x="68260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3200"/>
          </a:p>
        </p:txBody>
      </p:sp>
      <p:sp>
        <p:nvSpPr>
          <p:cNvPr id="7" name="Text 5"/>
          <p:cNvSpPr/>
          <p:nvPr/>
        </p:nvSpPr>
        <p:spPr>
          <a:xfrm>
            <a:off x="2511400" y="20574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682600" y="27432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Influencer</a:t>
            </a:r>
            <a:endParaRPr lang="en-US" sz="1400"/>
          </a:p>
        </p:txBody>
      </p:sp>
      <p:sp>
        <p:nvSpPr>
          <p:cNvPr id="9" name="Text 7"/>
          <p:cNvSpPr/>
          <p:nvPr/>
        </p:nvSpPr>
        <p:spPr>
          <a:xfrm>
            <a:off x="682600" y="31089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 / Instagram</a:t>
            </a:r>
            <a:endParaRPr lang="en-US" sz="1000"/>
          </a:p>
        </p:txBody>
      </p:sp>
      <p:sp>
        <p:nvSpPr>
          <p:cNvPr id="10" name="Text 8"/>
          <p:cNvSpPr/>
          <p:nvPr/>
        </p:nvSpPr>
        <p:spPr>
          <a:xfrm>
            <a:off x="682600" y="34290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20 home-cook influencers (Aunty Aini, Sarah Cooks). Daily "snap-and-cook" reels.</a:t>
            </a:r>
            <a:endParaRPr lang="en-US" sz="1000"/>
          </a:p>
        </p:txBody>
      </p:sp>
      <p:sp>
        <p:nvSpPr>
          <p:cNvPr id="11" name="Shape 9"/>
          <p:cNvSpPr/>
          <p:nvPr/>
        </p:nvSpPr>
        <p:spPr>
          <a:xfrm>
            <a:off x="682600" y="4251960"/>
            <a:ext cx="2240280" cy="292608"/>
          </a:xfrm>
          <a:prstGeom prst="rect">
            <a:avLst/>
          </a:prstGeom>
          <a:solidFill>
            <a:srgbClr val="F4F8EB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2" name="Text 10"/>
          <p:cNvSpPr/>
          <p:nvPr/>
        </p:nvSpPr>
        <p:spPr>
          <a:xfrm>
            <a:off x="682600" y="42519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2M views / mo</a:t>
            </a:r>
            <a:endParaRPr lang="en-US" sz="1000"/>
          </a:p>
        </p:txBody>
      </p:sp>
      <p:sp>
        <p:nvSpPr>
          <p:cNvPr id="13" name="Shape 11"/>
          <p:cNvSpPr/>
          <p:nvPr/>
        </p:nvSpPr>
        <p:spPr>
          <a:xfrm>
            <a:off x="3316072" y="1783080"/>
            <a:ext cx="269748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D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" name="Shape 12"/>
          <p:cNvSpPr/>
          <p:nvPr/>
        </p:nvSpPr>
        <p:spPr>
          <a:xfrm>
            <a:off x="3316072" y="1783080"/>
            <a:ext cx="2697480" cy="91440"/>
          </a:xfrm>
          <a:prstGeom prst="rect">
            <a:avLst/>
          </a:prstGeom>
          <a:solidFill>
            <a:srgbClr val="EF9F27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5" name="Text 13"/>
          <p:cNvSpPr/>
          <p:nvPr/>
        </p:nvSpPr>
        <p:spPr>
          <a:xfrm>
            <a:off x="3544672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</a:t>
            </a:r>
            <a:endParaRPr lang="en-US" sz="3200"/>
          </a:p>
        </p:txBody>
      </p:sp>
      <p:sp>
        <p:nvSpPr>
          <p:cNvPr id="16" name="Text 14"/>
          <p:cNvSpPr/>
          <p:nvPr/>
        </p:nvSpPr>
        <p:spPr>
          <a:xfrm>
            <a:off x="5373472" y="20574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/>
          </a:p>
        </p:txBody>
      </p:sp>
      <p:sp>
        <p:nvSpPr>
          <p:cNvPr id="17" name="Text 15"/>
          <p:cNvSpPr/>
          <p:nvPr/>
        </p:nvSpPr>
        <p:spPr>
          <a:xfrm>
            <a:off x="3544672" y="27432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Partnerships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3544672" y="31089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PTAs · NGOs · Mosques</a:t>
            </a:r>
            <a:endParaRPr lang="en-US" sz="1000"/>
          </a:p>
        </p:txBody>
      </p:sp>
      <p:sp>
        <p:nvSpPr>
          <p:cNvPr id="19" name="Text 17"/>
          <p:cNvSpPr/>
          <p:nvPr/>
        </p:nvSpPr>
        <p:spPr>
          <a:xfrm>
            <a:off x="3544672" y="34290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Workshops with Persatuan Suri Rumah; talks at Ramadan bazaars; partner with MAEPS food-waste programme.</a:t>
            </a:r>
            <a:endParaRPr lang="en-US" sz="1000"/>
          </a:p>
        </p:txBody>
      </p:sp>
      <p:sp>
        <p:nvSpPr>
          <p:cNvPr id="20" name="Shape 18"/>
          <p:cNvSpPr/>
          <p:nvPr/>
        </p:nvSpPr>
        <p:spPr>
          <a:xfrm>
            <a:off x="3544672" y="4251960"/>
            <a:ext cx="2240280" cy="292608"/>
          </a:xfrm>
          <a:prstGeom prst="rect">
            <a:avLst/>
          </a:prstGeom>
          <a:solidFill>
            <a:srgbClr val="F4F8EB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21" name="Text 19"/>
          <p:cNvSpPr/>
          <p:nvPr/>
        </p:nvSpPr>
        <p:spPr>
          <a:xfrm>
            <a:off x="3544672" y="42519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events / yr</a:t>
            </a:r>
            <a:endParaRPr lang="en-US" sz="1000"/>
          </a:p>
        </p:txBody>
      </p:sp>
      <p:sp>
        <p:nvSpPr>
          <p:cNvPr id="22" name="Shape 20"/>
          <p:cNvSpPr/>
          <p:nvPr/>
        </p:nvSpPr>
        <p:spPr>
          <a:xfrm>
            <a:off x="6178144" y="1783080"/>
            <a:ext cx="269748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D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" name="Shape 21"/>
          <p:cNvSpPr/>
          <p:nvPr/>
        </p:nvSpPr>
        <p:spPr>
          <a:xfrm>
            <a:off x="6178144" y="1783080"/>
            <a:ext cx="2697480" cy="91440"/>
          </a:xfrm>
          <a:prstGeom prst="rect">
            <a:avLst/>
          </a:prstGeom>
          <a:solidFill>
            <a:srgbClr val="EF9F27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24" name="Text 22"/>
          <p:cNvSpPr/>
          <p:nvPr/>
        </p:nvSpPr>
        <p:spPr>
          <a:xfrm>
            <a:off x="6406744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🛒</a:t>
            </a:r>
            <a:endParaRPr lang="en-US" sz="3200"/>
          </a:p>
        </p:txBody>
      </p:sp>
      <p:sp>
        <p:nvSpPr>
          <p:cNvPr id="25" name="Text 23"/>
          <p:cNvSpPr/>
          <p:nvPr/>
        </p:nvSpPr>
        <p:spPr>
          <a:xfrm>
            <a:off x="8235544" y="20574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6406744" y="27432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Integration</a:t>
            </a:r>
            <a:endParaRPr lang="en-US" sz="1400"/>
          </a:p>
        </p:txBody>
      </p:sp>
      <p:sp>
        <p:nvSpPr>
          <p:cNvPr id="27" name="Text 25"/>
          <p:cNvSpPr/>
          <p:nvPr/>
        </p:nvSpPr>
        <p:spPr>
          <a:xfrm>
            <a:off x="6406744" y="31089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Tesco · Lotus's · Jaya</a:t>
            </a:r>
            <a:endParaRPr lang="en-US" sz="1000"/>
          </a:p>
        </p:txBody>
      </p:sp>
      <p:sp>
        <p:nvSpPr>
          <p:cNvPr id="28" name="Text 26"/>
          <p:cNvSpPr/>
          <p:nvPr/>
        </p:nvSpPr>
        <p:spPr>
          <a:xfrm>
            <a:off x="6406744" y="34290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QR-code shelf tags: "Got leftovers? Snap them with ecoBite." Co-branded promotions on receipts.</a:t>
            </a:r>
            <a:endParaRPr lang="en-US" sz="1000"/>
          </a:p>
        </p:txBody>
      </p:sp>
      <p:sp>
        <p:nvSpPr>
          <p:cNvPr id="29" name="Shape 27"/>
          <p:cNvSpPr/>
          <p:nvPr/>
        </p:nvSpPr>
        <p:spPr>
          <a:xfrm>
            <a:off x="6406744" y="4251960"/>
            <a:ext cx="2240280" cy="292608"/>
          </a:xfrm>
          <a:prstGeom prst="rect">
            <a:avLst/>
          </a:prstGeom>
          <a:solidFill>
            <a:srgbClr val="F4F8EB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30" name="Text 28"/>
          <p:cNvSpPr/>
          <p:nvPr/>
        </p:nvSpPr>
        <p:spPr>
          <a:xfrm>
            <a:off x="6406744" y="42519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stores</a:t>
            </a:r>
            <a:endParaRPr lang="en-US" sz="1000"/>
          </a:p>
        </p:txBody>
      </p:sp>
      <p:sp>
        <p:nvSpPr>
          <p:cNvPr id="31" name="Shape 29"/>
          <p:cNvSpPr/>
          <p:nvPr/>
        </p:nvSpPr>
        <p:spPr>
          <a:xfrm>
            <a:off x="9040216" y="1783080"/>
            <a:ext cx="269748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D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2" name="Shape 30"/>
          <p:cNvSpPr/>
          <p:nvPr/>
        </p:nvSpPr>
        <p:spPr>
          <a:xfrm>
            <a:off x="9040216" y="1783080"/>
            <a:ext cx="2697480" cy="91440"/>
          </a:xfrm>
          <a:prstGeom prst="rect">
            <a:avLst/>
          </a:prstGeom>
          <a:solidFill>
            <a:srgbClr val="EF9F27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33" name="Text 31"/>
          <p:cNvSpPr/>
          <p:nvPr/>
        </p:nvSpPr>
        <p:spPr>
          <a:xfrm>
            <a:off x="9268816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📺</a:t>
            </a:r>
            <a:endParaRPr lang="en-US" sz="3200"/>
          </a:p>
        </p:txBody>
      </p:sp>
      <p:sp>
        <p:nvSpPr>
          <p:cNvPr id="34" name="Text 32"/>
          <p:cNvSpPr/>
          <p:nvPr/>
        </p:nvSpPr>
        <p:spPr>
          <a:xfrm>
            <a:off x="11097616" y="20574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/>
          </a:p>
        </p:txBody>
      </p:sp>
      <p:sp>
        <p:nvSpPr>
          <p:cNvPr id="35" name="Text 33"/>
          <p:cNvSpPr/>
          <p:nvPr/>
        </p:nvSpPr>
        <p:spPr>
          <a:xfrm>
            <a:off x="9268816" y="27432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Earned Media &amp; PR</a:t>
            </a:r>
            <a:endParaRPr lang="en-US" sz="1400"/>
          </a:p>
        </p:txBody>
      </p:sp>
      <p:sp>
        <p:nvSpPr>
          <p:cNvPr id="36" name="Text 34"/>
          <p:cNvSpPr/>
          <p:nvPr/>
        </p:nvSpPr>
        <p:spPr>
          <a:xfrm>
            <a:off x="9268816" y="31089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 · Press · Podcasts</a:t>
            </a:r>
            <a:endParaRPr lang="en-US" sz="1000"/>
          </a:p>
        </p:txBody>
      </p:sp>
      <p:sp>
        <p:nvSpPr>
          <p:cNvPr id="37" name="Text 35"/>
          <p:cNvSpPr/>
          <p:nvPr/>
        </p:nvSpPr>
        <p:spPr>
          <a:xfrm>
            <a:off x="9268816" y="34290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to The Star, NST Lifestyle, BFM89.9. Position as Malaysia's first AI food-waste solution.</a:t>
            </a:r>
            <a:endParaRPr lang="en-US" sz="1000"/>
          </a:p>
        </p:txBody>
      </p:sp>
      <p:sp>
        <p:nvSpPr>
          <p:cNvPr id="38" name="Shape 36"/>
          <p:cNvSpPr/>
          <p:nvPr/>
        </p:nvSpPr>
        <p:spPr>
          <a:xfrm>
            <a:off x="9268816" y="4251960"/>
            <a:ext cx="2240280" cy="292608"/>
          </a:xfrm>
          <a:prstGeom prst="rect">
            <a:avLst/>
          </a:prstGeom>
          <a:solidFill>
            <a:srgbClr val="F4F8EB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39" name="Text 37"/>
          <p:cNvSpPr/>
          <p:nvPr/>
        </p:nvSpPr>
        <p:spPr>
          <a:xfrm>
            <a:off x="9268816" y="42519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 features</a:t>
            </a:r>
            <a:endParaRPr lang="en-US" sz="1000"/>
          </a:p>
        </p:txBody>
      </p:sp>
      <p:sp>
        <p:nvSpPr>
          <p:cNvPr id="40" name="Text 38"/>
          <p:cNvSpPr/>
          <p:nvPr/>
        </p:nvSpPr>
        <p:spPr>
          <a:xfrm>
            <a:off x="64008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 funnel &amp; budget</a:t>
            </a:r>
            <a:endParaRPr lang="en-US" sz="1200"/>
          </a:p>
        </p:txBody>
      </p:sp>
      <p:sp>
        <p:nvSpPr>
          <p:cNvPr id="41" name="Shape 39"/>
          <p:cNvSpPr/>
          <p:nvPr/>
        </p:nvSpPr>
        <p:spPr>
          <a:xfrm>
            <a:off x="640080" y="5120640"/>
            <a:ext cx="1828800" cy="1005840"/>
          </a:xfrm>
          <a:prstGeom prst="rect">
            <a:avLst/>
          </a:prstGeom>
          <a:solidFill>
            <a:srgbClr val="97C459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42" name="Text 40"/>
          <p:cNvSpPr/>
          <p:nvPr/>
        </p:nvSpPr>
        <p:spPr>
          <a:xfrm>
            <a:off x="640080" y="52120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5M</a:t>
            </a:r>
            <a:endParaRPr lang="en-US" sz="2400"/>
          </a:p>
        </p:txBody>
      </p:sp>
      <p:sp>
        <p:nvSpPr>
          <p:cNvPr id="43" name="Text 41"/>
          <p:cNvSpPr/>
          <p:nvPr/>
        </p:nvSpPr>
        <p:spPr>
          <a:xfrm>
            <a:off x="640080" y="57150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</a:t>
            </a:r>
            <a:endParaRPr lang="en-US" sz="900"/>
          </a:p>
        </p:txBody>
      </p:sp>
      <p:sp>
        <p:nvSpPr>
          <p:cNvPr id="44" name="Text 42"/>
          <p:cNvSpPr/>
          <p:nvPr/>
        </p:nvSpPr>
        <p:spPr>
          <a:xfrm>
            <a:off x="640080" y="592531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impressions</a:t>
            </a:r>
            <a:endParaRPr lang="en-US" sz="800"/>
          </a:p>
        </p:txBody>
      </p:sp>
      <p:sp>
        <p:nvSpPr>
          <p:cNvPr id="45" name="Text 43"/>
          <p:cNvSpPr/>
          <p:nvPr/>
        </p:nvSpPr>
        <p:spPr>
          <a:xfrm>
            <a:off x="2423160" y="5394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/>
          </a:p>
        </p:txBody>
      </p:sp>
      <p:sp>
        <p:nvSpPr>
          <p:cNvPr id="46" name="Shape 44"/>
          <p:cNvSpPr/>
          <p:nvPr/>
        </p:nvSpPr>
        <p:spPr>
          <a:xfrm>
            <a:off x="2560320" y="5120640"/>
            <a:ext cx="1828800" cy="100584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47" name="Text 45"/>
          <p:cNvSpPr/>
          <p:nvPr/>
        </p:nvSpPr>
        <p:spPr>
          <a:xfrm>
            <a:off x="2560320" y="52120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</a:t>
            </a:r>
            <a:endParaRPr lang="en-US" sz="2400"/>
          </a:p>
        </p:txBody>
      </p:sp>
      <p:sp>
        <p:nvSpPr>
          <p:cNvPr id="48" name="Text 46"/>
          <p:cNvSpPr/>
          <p:nvPr/>
        </p:nvSpPr>
        <p:spPr>
          <a:xfrm>
            <a:off x="2560320" y="57150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</a:t>
            </a:r>
            <a:endParaRPr lang="en-US" sz="900"/>
          </a:p>
        </p:txBody>
      </p:sp>
      <p:sp>
        <p:nvSpPr>
          <p:cNvPr id="49" name="Text 47"/>
          <p:cNvSpPr/>
          <p:nvPr/>
        </p:nvSpPr>
        <p:spPr>
          <a:xfrm>
            <a:off x="2560320" y="592531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store visits</a:t>
            </a:r>
            <a:endParaRPr lang="en-US" sz="800"/>
          </a:p>
        </p:txBody>
      </p:sp>
      <p:sp>
        <p:nvSpPr>
          <p:cNvPr id="50" name="Text 48"/>
          <p:cNvSpPr/>
          <p:nvPr/>
        </p:nvSpPr>
        <p:spPr>
          <a:xfrm>
            <a:off x="4343400" y="5394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/>
          </a:p>
        </p:txBody>
      </p:sp>
      <p:sp>
        <p:nvSpPr>
          <p:cNvPr id="51" name="Shape 49"/>
          <p:cNvSpPr/>
          <p:nvPr/>
        </p:nvSpPr>
        <p:spPr>
          <a:xfrm>
            <a:off x="4480560" y="5120640"/>
            <a:ext cx="1828800" cy="100584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52" name="Text 50"/>
          <p:cNvSpPr/>
          <p:nvPr/>
        </p:nvSpPr>
        <p:spPr>
          <a:xfrm>
            <a:off x="4480560" y="52120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200K</a:t>
            </a:r>
            <a:endParaRPr lang="en-US" sz="2400"/>
          </a:p>
        </p:txBody>
      </p:sp>
      <p:sp>
        <p:nvSpPr>
          <p:cNvPr id="53" name="Text 51"/>
          <p:cNvSpPr/>
          <p:nvPr/>
        </p:nvSpPr>
        <p:spPr>
          <a:xfrm>
            <a:off x="4480560" y="57150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900"/>
          </a:p>
        </p:txBody>
      </p:sp>
      <p:sp>
        <p:nvSpPr>
          <p:cNvPr id="54" name="Text 52"/>
          <p:cNvSpPr/>
          <p:nvPr/>
        </p:nvSpPr>
        <p:spPr>
          <a:xfrm>
            <a:off x="4480560" y="592531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installs</a:t>
            </a:r>
            <a:endParaRPr lang="en-US" sz="800"/>
          </a:p>
        </p:txBody>
      </p:sp>
      <p:sp>
        <p:nvSpPr>
          <p:cNvPr id="55" name="Text 53"/>
          <p:cNvSpPr/>
          <p:nvPr/>
        </p:nvSpPr>
        <p:spPr>
          <a:xfrm>
            <a:off x="6263640" y="5394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/>
          </a:p>
        </p:txBody>
      </p:sp>
      <p:sp>
        <p:nvSpPr>
          <p:cNvPr id="56" name="Shape 54"/>
          <p:cNvSpPr/>
          <p:nvPr/>
        </p:nvSpPr>
        <p:spPr>
          <a:xfrm>
            <a:off x="6400800" y="5120640"/>
            <a:ext cx="1828800" cy="1005840"/>
          </a:xfrm>
          <a:prstGeom prst="rect">
            <a:avLst/>
          </a:prstGeom>
          <a:solidFill>
            <a:srgbClr val="EF9F27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57" name="Text 55"/>
          <p:cNvSpPr/>
          <p:nvPr/>
        </p:nvSpPr>
        <p:spPr>
          <a:xfrm>
            <a:off x="6400800" y="52120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100K</a:t>
            </a:r>
            <a:endParaRPr lang="en-US" sz="2400"/>
          </a:p>
        </p:txBody>
      </p:sp>
      <p:sp>
        <p:nvSpPr>
          <p:cNvPr id="58" name="Text 56"/>
          <p:cNvSpPr/>
          <p:nvPr/>
        </p:nvSpPr>
        <p:spPr>
          <a:xfrm>
            <a:off x="6400800" y="57150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USER</a:t>
            </a:r>
            <a:endParaRPr lang="en-US" sz="900"/>
          </a:p>
        </p:txBody>
      </p:sp>
      <p:sp>
        <p:nvSpPr>
          <p:cNvPr id="59" name="Text 57"/>
          <p:cNvSpPr/>
          <p:nvPr/>
        </p:nvSpPr>
        <p:spPr>
          <a:xfrm>
            <a:off x="6400800" y="592531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cooks</a:t>
            </a:r>
            <a:endParaRPr lang="en-US" sz="800"/>
          </a:p>
        </p:txBody>
      </p:sp>
      <p:sp>
        <p:nvSpPr>
          <p:cNvPr id="60" name="Shape 58"/>
          <p:cNvSpPr/>
          <p:nvPr/>
        </p:nvSpPr>
        <p:spPr>
          <a:xfrm>
            <a:off x="8366760" y="5120640"/>
            <a:ext cx="3154680" cy="1005840"/>
          </a:xfrm>
          <a:prstGeom prst="rect">
            <a:avLst/>
          </a:prstGeom>
          <a:solidFill>
            <a:srgbClr val="383223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61" name="Text 59"/>
          <p:cNvSpPr/>
          <p:nvPr/>
        </p:nvSpPr>
        <p:spPr>
          <a:xfrm>
            <a:off x="8549640" y="523036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BUDGET</a:t>
            </a:r>
            <a:endParaRPr lang="en-US" sz="900"/>
          </a:p>
        </p:txBody>
      </p:sp>
      <p:sp>
        <p:nvSpPr>
          <p:cNvPr id="62" name="Text 60"/>
          <p:cNvSpPr/>
          <p:nvPr/>
        </p:nvSpPr>
        <p:spPr>
          <a:xfrm>
            <a:off x="8549640" y="54406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350K</a:t>
            </a:r>
            <a:endParaRPr lang="en-US" sz="2600"/>
          </a:p>
        </p:txBody>
      </p:sp>
      <p:sp>
        <p:nvSpPr>
          <p:cNvPr id="63" name="Text 61"/>
          <p:cNvSpPr/>
          <p:nvPr/>
        </p:nvSpPr>
        <p:spPr>
          <a:xfrm>
            <a:off x="8549640" y="589788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3.50 cost per active user</a:t>
            </a:r>
            <a:endParaRPr lang="en-US" sz="1000"/>
          </a:p>
        </p:txBody>
      </p:sp>
      <p:sp>
        <p:nvSpPr>
          <p:cNvPr id="64" name="Text 62"/>
          <p:cNvSpPr/>
          <p:nvPr/>
        </p:nvSpPr>
        <p:spPr>
          <a:xfrm>
            <a:off x="45720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ecoBite</a:t>
            </a:r>
            <a:endParaRPr lang="en-US" sz="900"/>
          </a:p>
        </p:txBody>
      </p:sp>
      <p:sp>
        <p:nvSpPr>
          <p:cNvPr id="65" name="Text 63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The Team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building ecoBite</a:t>
            </a:r>
            <a:endParaRPr lang="en-US" sz="320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small, focused team blending product, engineering and food science.</a:t>
            </a:r>
            <a:endParaRPr lang="en-US" sz="1400"/>
          </a:p>
        </p:txBody>
      </p:sp>
      <p:sp>
        <p:nvSpPr>
          <p:cNvPr id="5" name="Shape 3"/>
          <p:cNvSpPr/>
          <p:nvPr/>
        </p:nvSpPr>
        <p:spPr>
          <a:xfrm>
            <a:off x="439337" y="2304123"/>
            <a:ext cx="2744436" cy="3867253"/>
          </a:xfrm>
          <a:prstGeom prst="rect">
            <a:avLst/>
          </a:prstGeom>
          <a:solidFill>
            <a:srgbClr val="FFFFFF"/>
          </a:solidFill>
          <a:ln w="6350">
            <a:solidFill>
              <a:srgbClr val="E5E5D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" name="Text 6"/>
          <p:cNvSpPr/>
          <p:nvPr/>
        </p:nvSpPr>
        <p:spPr>
          <a:xfrm>
            <a:off x="576497" y="4130864"/>
            <a:ext cx="2476294" cy="468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500">
                <a:solidFill>
                  <a:srgbClr val="383223"/>
                </a:solidFill>
                <a:latin typeface="Calibri"/>
                <a:ea typeface="Calibri"/>
                <a:cs typeface="Calibri"/>
              </a:rPr>
              <a:t>Project Manager</a:t>
            </a:r>
          </a:p>
          <a:p>
            <a:pPr algn="ctr"/>
            <a:r>
              <a:rPr lang="en-US" sz="1500" b="1">
                <a:solidFill>
                  <a:srgbClr val="383223"/>
                </a:solidFill>
                <a:latin typeface="Calibri"/>
                <a:ea typeface="Calibri"/>
                <a:cs typeface="Calibri"/>
              </a:rPr>
              <a:t>LIM ZHI YEE</a:t>
            </a:r>
          </a:p>
        </p:txBody>
      </p:sp>
      <p:sp>
        <p:nvSpPr>
          <p:cNvPr id="11" name="Text 9"/>
          <p:cNvSpPr/>
          <p:nvPr/>
        </p:nvSpPr>
        <p:spPr>
          <a:xfrm>
            <a:off x="436865" y="4907033"/>
            <a:ext cx="2734961" cy="1059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>
                <a:solidFill>
                  <a:srgbClr val="2C2C2A"/>
                </a:solidFill>
                <a:latin typeface="Calibri"/>
                <a:ea typeface="Calibri"/>
                <a:cs typeface="Calibri"/>
              </a:rPr>
              <a:t>Managed project workflow and deadlines
Coordinated team discussions
Ensured completion of the application</a:t>
            </a:r>
            <a:endParaRPr lang="en-US" sz="1000">
              <a:latin typeface="Calibri"/>
              <a:ea typeface="Calibri"/>
              <a:cs typeface="Calibri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300749" y="2304123"/>
            <a:ext cx="2744436" cy="3867253"/>
          </a:xfrm>
          <a:prstGeom prst="rect">
            <a:avLst/>
          </a:prstGeom>
          <a:solidFill>
            <a:srgbClr val="FFFFFF"/>
          </a:solidFill>
          <a:ln w="6350">
            <a:solidFill>
              <a:srgbClr val="E5E5D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" name="Shape 11"/>
          <p:cNvSpPr/>
          <p:nvPr/>
        </p:nvSpPr>
        <p:spPr>
          <a:xfrm>
            <a:off x="3962659" y="2638991"/>
            <a:ext cx="1416496" cy="1416496"/>
          </a:xfrm>
          <a:prstGeom prst="ellipse">
            <a:avLst/>
          </a:prstGeom>
          <a:solidFill>
            <a:srgbClr val="F4F8EB"/>
          </a:solidFill>
          <a:ln w="1905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" name="Text 12"/>
          <p:cNvSpPr/>
          <p:nvPr/>
        </p:nvSpPr>
        <p:spPr>
          <a:xfrm>
            <a:off x="3962659" y="2638991"/>
            <a:ext cx="1416496" cy="1416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>
                <a:solidFill>
                  <a:srgbClr val="0F6E56"/>
                </a:solidFill>
                <a:latin typeface="Calibri" pitchFamily="34" charset="0"/>
              </a:rPr>
              <a:t>UI/UX</a:t>
            </a:r>
            <a:endParaRPr lang="en-US" sz="2600"/>
          </a:p>
        </p:txBody>
      </p:sp>
      <p:sp>
        <p:nvSpPr>
          <p:cNvPr id="15" name="Text 13"/>
          <p:cNvSpPr/>
          <p:nvPr/>
        </p:nvSpPr>
        <p:spPr>
          <a:xfrm>
            <a:off x="3479098" y="4130864"/>
            <a:ext cx="2476294" cy="468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>
                <a:solidFill>
                  <a:srgbClr val="383223"/>
                </a:solidFill>
                <a:latin typeface="Calibri"/>
                <a:ea typeface="Calibri"/>
                <a:cs typeface="Calibri"/>
              </a:rPr>
              <a:t>User Interface/User Experience</a:t>
            </a:r>
          </a:p>
          <a:p>
            <a:pPr algn="ctr"/>
            <a:r>
              <a:rPr lang="en-US" sz="1500" b="1">
                <a:solidFill>
                  <a:srgbClr val="383223"/>
                </a:solidFill>
                <a:latin typeface="Calibri"/>
                <a:ea typeface="Calibri"/>
                <a:cs typeface="Calibri"/>
              </a:rPr>
              <a:t>NGAN XIN NI</a:t>
            </a:r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626556" y="4717398"/>
            <a:ext cx="2119595" cy="374986"/>
          </a:xfrm>
          <a:prstGeom prst="rect">
            <a:avLst/>
          </a:prstGeom>
          <a:solidFill>
            <a:srgbClr val="EF9F27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7" name="Text 15"/>
          <p:cNvSpPr/>
          <p:nvPr/>
        </p:nvSpPr>
        <p:spPr>
          <a:xfrm>
            <a:off x="3626556" y="4717398"/>
            <a:ext cx="2119595" cy="3749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Interface &amp; User Experience</a:t>
            </a:r>
            <a:endParaRPr lang="en-US" sz="1200">
              <a:latin typeface="Calibri"/>
              <a:ea typeface="Calibri"/>
              <a:cs typeface="Calibri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339468" y="5010006"/>
            <a:ext cx="2652582" cy="1059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/>
              <a:t>Designed the app layout and </a:t>
            </a:r>
          </a:p>
          <a:p>
            <a:pPr algn="ctr"/>
            <a:r>
              <a:rPr lang="en-US" sz="1000"/>
              <a:t>visual appearance
Improved navigation and overall </a:t>
            </a:r>
          </a:p>
          <a:p>
            <a:pPr marL="0" indent="0" algn="ctr">
              <a:buNone/>
            </a:pPr>
            <a:r>
              <a:rPr lang="en-US" sz="1000"/>
              <a:t>user experience</a:t>
            </a:r>
            <a:endParaRPr lang="en-US" sz="1000">
              <a:ea typeface="Calibri"/>
              <a:cs typeface="Calibri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172459" y="2304123"/>
            <a:ext cx="2734138" cy="3867253"/>
          </a:xfrm>
          <a:prstGeom prst="rect">
            <a:avLst/>
          </a:prstGeom>
          <a:solidFill>
            <a:srgbClr val="FFFFFF"/>
          </a:solidFill>
          <a:ln w="6350">
            <a:solidFill>
              <a:srgbClr val="E5E5D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" name="Shape 18"/>
          <p:cNvSpPr/>
          <p:nvPr/>
        </p:nvSpPr>
        <p:spPr>
          <a:xfrm>
            <a:off x="6803477" y="2638991"/>
            <a:ext cx="1416496" cy="1416496"/>
          </a:xfrm>
          <a:prstGeom prst="ellipse">
            <a:avLst/>
          </a:prstGeom>
          <a:solidFill>
            <a:srgbClr val="F4F8EB"/>
          </a:solidFill>
          <a:ln w="1905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" name="Text 19"/>
          <p:cNvSpPr/>
          <p:nvPr/>
        </p:nvSpPr>
        <p:spPr>
          <a:xfrm>
            <a:off x="6803477" y="2638991"/>
            <a:ext cx="1416496" cy="1416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>
                <a:solidFill>
                  <a:srgbClr val="0F6E56"/>
                </a:solidFill>
                <a:latin typeface="Calibri" pitchFamily="34" charset="0"/>
              </a:rPr>
              <a:t>DEV</a:t>
            </a:r>
            <a:endParaRPr lang="en-US" sz="2600"/>
          </a:p>
        </p:txBody>
      </p:sp>
      <p:sp>
        <p:nvSpPr>
          <p:cNvPr id="22" name="Text 20"/>
          <p:cNvSpPr/>
          <p:nvPr/>
        </p:nvSpPr>
        <p:spPr>
          <a:xfrm>
            <a:off x="6309619" y="4120567"/>
            <a:ext cx="2476294" cy="468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>
                <a:solidFill>
                  <a:srgbClr val="383223"/>
                </a:solidFill>
                <a:latin typeface="Calibri"/>
                <a:ea typeface="Calibri"/>
                <a:cs typeface="Calibri"/>
              </a:rPr>
              <a:t>App Developer</a:t>
            </a:r>
            <a:endParaRPr lang="en-US" sz="15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ctr"/>
            <a:r>
              <a:rPr lang="en-US" sz="1500" b="1">
                <a:solidFill>
                  <a:srgbClr val="383223"/>
                </a:solidFill>
                <a:latin typeface="Calibri"/>
                <a:ea typeface="Calibri"/>
                <a:cs typeface="Calibri"/>
              </a:rPr>
              <a:t>TEE WEI XUAN</a:t>
            </a:r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498265" y="4717398"/>
            <a:ext cx="2119595" cy="374986"/>
          </a:xfrm>
          <a:prstGeom prst="rect">
            <a:avLst/>
          </a:prstGeom>
          <a:solidFill>
            <a:srgbClr val="EF9F27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24" name="Text 22"/>
          <p:cNvSpPr/>
          <p:nvPr/>
        </p:nvSpPr>
        <p:spPr>
          <a:xfrm>
            <a:off x="6498265" y="4717398"/>
            <a:ext cx="2119595" cy="3749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Application Development</a:t>
            </a:r>
            <a:endParaRPr lang="en-US" sz="1100">
              <a:latin typeface="Calibri"/>
              <a:ea typeface="Calibri"/>
              <a:cs typeface="Calibri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149394" y="4958520"/>
            <a:ext cx="2755554" cy="1008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/>
              <a:t>Built core app functions and </a:t>
            </a:r>
          </a:p>
          <a:p>
            <a:pPr marL="0" indent="0" algn="ctr">
              <a:buNone/>
            </a:pPr>
            <a:r>
              <a:rPr lang="en-US" sz="1000"/>
              <a:t>database system
Integrated API and application features</a:t>
            </a:r>
            <a:endParaRPr lang="en-US" sz="1000">
              <a:ea typeface="Calibri"/>
              <a:cs typeface="Calibri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033872" y="2304123"/>
            <a:ext cx="2744436" cy="3867253"/>
          </a:xfrm>
          <a:prstGeom prst="rect">
            <a:avLst/>
          </a:prstGeom>
          <a:solidFill>
            <a:srgbClr val="FFFFFF"/>
          </a:solidFill>
          <a:ln w="6350">
            <a:solidFill>
              <a:srgbClr val="E5E5D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7" name="Shape 25"/>
          <p:cNvSpPr/>
          <p:nvPr/>
        </p:nvSpPr>
        <p:spPr>
          <a:xfrm>
            <a:off x="9706079" y="2638991"/>
            <a:ext cx="1416496" cy="1416496"/>
          </a:xfrm>
          <a:prstGeom prst="ellipse">
            <a:avLst/>
          </a:prstGeom>
          <a:solidFill>
            <a:srgbClr val="F4F8EB"/>
          </a:solidFill>
          <a:ln w="1905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8" name="Text 26"/>
          <p:cNvSpPr/>
          <p:nvPr/>
        </p:nvSpPr>
        <p:spPr>
          <a:xfrm>
            <a:off x="9706079" y="2638991"/>
            <a:ext cx="1416496" cy="1416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>
                <a:solidFill>
                  <a:srgbClr val="0F6E56"/>
                </a:solidFill>
                <a:latin typeface="Calibri" pitchFamily="34" charset="0"/>
              </a:rPr>
              <a:t>AI</a:t>
            </a:r>
            <a:endParaRPr lang="en-US" sz="2600"/>
          </a:p>
        </p:txBody>
      </p:sp>
      <p:sp>
        <p:nvSpPr>
          <p:cNvPr id="29" name="Text 27"/>
          <p:cNvSpPr/>
          <p:nvPr/>
        </p:nvSpPr>
        <p:spPr>
          <a:xfrm>
            <a:off x="9171032" y="4120567"/>
            <a:ext cx="2476294" cy="468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>
                <a:solidFill>
                  <a:srgbClr val="383223"/>
                </a:solidFill>
                <a:latin typeface="Calibri"/>
                <a:ea typeface="Calibri"/>
                <a:cs typeface="Calibri"/>
              </a:rPr>
              <a:t>AI &amp; Content Specialist</a:t>
            </a:r>
          </a:p>
          <a:p>
            <a:pPr algn="ctr"/>
            <a:r>
              <a:rPr lang="en-US" sz="1500" b="1">
                <a:solidFill>
                  <a:srgbClr val="383223"/>
                </a:solidFill>
                <a:latin typeface="Calibri"/>
                <a:ea typeface="Calibri"/>
                <a:cs typeface="Calibri"/>
              </a:rPr>
              <a:t>CHOO YAN MIN</a:t>
            </a:r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9359678" y="4717398"/>
            <a:ext cx="2119595" cy="374986"/>
          </a:xfrm>
          <a:prstGeom prst="rect">
            <a:avLst/>
          </a:prstGeom>
          <a:solidFill>
            <a:srgbClr val="EF9F27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31" name="Text 29"/>
          <p:cNvSpPr/>
          <p:nvPr/>
        </p:nvSpPr>
        <p:spPr>
          <a:xfrm>
            <a:off x="9359678" y="4717398"/>
            <a:ext cx="2119595" cy="3749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Smart Features &amp; Research</a:t>
            </a:r>
            <a:endParaRPr lang="en-US" sz="1100">
              <a:latin typeface="Calibri"/>
              <a:ea typeface="Calibri"/>
              <a:cs typeface="Calibri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9093490" y="5010006"/>
            <a:ext cx="2642284" cy="1059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/>
              <a:t>Developed AI-powered</a:t>
            </a:r>
          </a:p>
          <a:p>
            <a:pPr algn="ctr"/>
            <a:r>
              <a:rPr lang="en-US" sz="1000"/>
              <a:t>recommendation features
Researched food sustainability </a:t>
            </a:r>
          </a:p>
          <a:p>
            <a:pPr algn="ctr"/>
            <a:r>
              <a:rPr lang="en-US" sz="1000"/>
              <a:t>information</a:t>
            </a:r>
            <a:endParaRPr lang="en-US" sz="1000">
              <a:ea typeface="Calibri"/>
              <a:cs typeface="Calibri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45720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ecoBite</a:t>
            </a:r>
            <a:endParaRPr lang="en-US" sz="900"/>
          </a:p>
        </p:txBody>
      </p:sp>
      <p:sp>
        <p:nvSpPr>
          <p:cNvPr id="41" name="Text 39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/>
          </a:p>
        </p:txBody>
      </p:sp>
      <p:sp>
        <p:nvSpPr>
          <p:cNvPr id="6" name="Shape 4"/>
          <p:cNvSpPr/>
          <p:nvPr/>
        </p:nvSpPr>
        <p:spPr>
          <a:xfrm>
            <a:off x="1101247" y="2638991"/>
            <a:ext cx="1416496" cy="1416496"/>
          </a:xfrm>
          <a:prstGeom prst="ellipse">
            <a:avLst/>
          </a:prstGeom>
          <a:solidFill>
            <a:srgbClr val="F4F8EB"/>
          </a:solidFill>
          <a:ln w="1905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" name="Text 5"/>
          <p:cNvSpPr/>
          <p:nvPr/>
        </p:nvSpPr>
        <p:spPr>
          <a:xfrm>
            <a:off x="1101246" y="2638991"/>
            <a:ext cx="1416496" cy="1416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2600"/>
          </a:p>
        </p:txBody>
      </p:sp>
      <p:sp>
        <p:nvSpPr>
          <p:cNvPr id="9" name="Shape 7"/>
          <p:cNvSpPr/>
          <p:nvPr/>
        </p:nvSpPr>
        <p:spPr>
          <a:xfrm>
            <a:off x="765143" y="4717398"/>
            <a:ext cx="2119595" cy="374986"/>
          </a:xfrm>
          <a:prstGeom prst="rect">
            <a:avLst/>
          </a:prstGeom>
          <a:solidFill>
            <a:srgbClr val="EF9F27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0" name="Text 8"/>
          <p:cNvSpPr/>
          <p:nvPr/>
        </p:nvSpPr>
        <p:spPr>
          <a:xfrm>
            <a:off x="765143" y="4717397"/>
            <a:ext cx="2119595" cy="3749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Planning &amp; Coordination</a:t>
            </a:r>
            <a:endParaRPr lang="en-US" sz="120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Behind the Scenes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proven technology</a:t>
            </a:r>
            <a:endParaRPr lang="en-US" sz="320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80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1188720" cy="41148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1965960" y="23774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4 (vision + recipe)</a:t>
            </a:r>
            <a:endParaRPr lang="en-US" sz="1300"/>
          </a:p>
        </p:txBody>
      </p:sp>
      <p:sp>
        <p:nvSpPr>
          <p:cNvPr id="8" name="Shape 6"/>
          <p:cNvSpPr/>
          <p:nvPr/>
        </p:nvSpPr>
        <p:spPr>
          <a:xfrm>
            <a:off x="640080" y="3017520"/>
            <a:ext cx="1188720" cy="41148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9" name="Text 7"/>
          <p:cNvSpPr/>
          <p:nvPr/>
        </p:nvSpPr>
        <p:spPr>
          <a:xfrm>
            <a:off x="640080" y="30175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00"/>
          </a:p>
        </p:txBody>
      </p:sp>
      <p:sp>
        <p:nvSpPr>
          <p:cNvPr id="10" name="Text 8"/>
          <p:cNvSpPr/>
          <p:nvPr/>
        </p:nvSpPr>
        <p:spPr>
          <a:xfrm>
            <a:off x="1965960" y="301752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HTML5, Tailwind CSS, vanilla JS</a:t>
            </a:r>
            <a:endParaRPr lang="en-US" sz="1300"/>
          </a:p>
        </p:txBody>
      </p:sp>
      <p:sp>
        <p:nvSpPr>
          <p:cNvPr id="11" name="Shape 9"/>
          <p:cNvSpPr/>
          <p:nvPr/>
        </p:nvSpPr>
        <p:spPr>
          <a:xfrm>
            <a:off x="640080" y="3657600"/>
            <a:ext cx="1188720" cy="41148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2" name="Text 10"/>
          <p:cNvSpPr/>
          <p:nvPr/>
        </p:nvSpPr>
        <p:spPr>
          <a:xfrm>
            <a:off x="640080" y="36576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1000"/>
          </a:p>
        </p:txBody>
      </p:sp>
      <p:sp>
        <p:nvSpPr>
          <p:cNvPr id="13" name="Text 11"/>
          <p:cNvSpPr/>
          <p:nvPr/>
        </p:nvSpPr>
        <p:spPr>
          <a:xfrm>
            <a:off x="1965960" y="36576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localStorage for offline-first UX</a:t>
            </a:r>
            <a:endParaRPr lang="en-US" sz="1300"/>
          </a:p>
        </p:txBody>
      </p:sp>
      <p:sp>
        <p:nvSpPr>
          <p:cNvPr id="14" name="Shape 12"/>
          <p:cNvSpPr/>
          <p:nvPr/>
        </p:nvSpPr>
        <p:spPr>
          <a:xfrm>
            <a:off x="640080" y="4297680"/>
            <a:ext cx="1188720" cy="41148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5" name="Text 13"/>
          <p:cNvSpPr/>
          <p:nvPr/>
        </p:nvSpPr>
        <p:spPr>
          <a:xfrm>
            <a:off x="640080" y="429768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I18n</a:t>
            </a:r>
            <a:endParaRPr lang="en-US" sz="1000"/>
          </a:p>
        </p:txBody>
      </p:sp>
      <p:sp>
        <p:nvSpPr>
          <p:cNvPr id="16" name="Text 14"/>
          <p:cNvSpPr/>
          <p:nvPr/>
        </p:nvSpPr>
        <p:spPr>
          <a:xfrm>
            <a:off x="1965960" y="42976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bilingual (中文 / English)</a:t>
            </a:r>
            <a:endParaRPr lang="en-US" sz="1300"/>
          </a:p>
        </p:txBody>
      </p:sp>
      <p:sp>
        <p:nvSpPr>
          <p:cNvPr id="17" name="Shape 15"/>
          <p:cNvSpPr/>
          <p:nvPr/>
        </p:nvSpPr>
        <p:spPr>
          <a:xfrm>
            <a:off x="640080" y="4937760"/>
            <a:ext cx="1188720" cy="41148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8" name="Text 16"/>
          <p:cNvSpPr/>
          <p:nvPr/>
        </p:nvSpPr>
        <p:spPr>
          <a:xfrm>
            <a:off x="640080" y="49377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Imagery</a:t>
            </a:r>
            <a:endParaRPr lang="en-US" sz="1000"/>
          </a:p>
        </p:txBody>
      </p:sp>
      <p:sp>
        <p:nvSpPr>
          <p:cNvPr id="19" name="Text 17"/>
          <p:cNvSpPr/>
          <p:nvPr/>
        </p:nvSpPr>
        <p:spPr>
          <a:xfrm>
            <a:off x="1965960" y="49377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Unsplash CDN, smart keyword mapping</a:t>
            </a:r>
            <a:endParaRPr lang="en-US" sz="1300"/>
          </a:p>
        </p:txBody>
      </p:sp>
      <p:sp>
        <p:nvSpPr>
          <p:cNvPr id="20" name="Text 18"/>
          <p:cNvSpPr/>
          <p:nvPr/>
        </p:nvSpPr>
        <p:spPr>
          <a:xfrm>
            <a:off x="6400800" y="1920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383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1800"/>
          </a:p>
        </p:txBody>
      </p:sp>
      <p:sp>
        <p:nvSpPr>
          <p:cNvPr id="21" name="Shape 19"/>
          <p:cNvSpPr/>
          <p:nvPr/>
        </p:nvSpPr>
        <p:spPr>
          <a:xfrm>
            <a:off x="6400800" y="2377440"/>
            <a:ext cx="5120640" cy="128016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22" name="Text 20"/>
          <p:cNvSpPr/>
          <p:nvPr/>
        </p:nvSpPr>
        <p:spPr>
          <a:xfrm>
            <a:off x="6400800" y="23774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4800" b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4.2B</a:t>
            </a:r>
            <a:endParaRPr lang="en-US" sz="4800"/>
          </a:p>
        </p:txBody>
      </p:sp>
      <p:sp>
        <p:nvSpPr>
          <p:cNvPr id="23" name="Text 21"/>
          <p:cNvSpPr/>
          <p:nvPr/>
        </p:nvSpPr>
        <p:spPr>
          <a:xfrm>
            <a:off x="6400800" y="31089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wasted yearly in Malaysia</a:t>
            </a:r>
            <a:endParaRPr lang="en-US" sz="1200"/>
          </a:p>
        </p:txBody>
      </p:sp>
      <p:sp>
        <p:nvSpPr>
          <p:cNvPr id="24" name="Shape 22"/>
          <p:cNvSpPr/>
          <p:nvPr/>
        </p:nvSpPr>
        <p:spPr>
          <a:xfrm>
            <a:off x="6400800" y="3840480"/>
            <a:ext cx="1645920" cy="1371600"/>
          </a:xfrm>
          <a:prstGeom prst="rect">
            <a:avLst/>
          </a:prstGeom>
          <a:solidFill>
            <a:srgbClr val="F4F8EB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25" name="Text 23"/>
          <p:cNvSpPr/>
          <p:nvPr/>
        </p:nvSpPr>
        <p:spPr>
          <a:xfrm>
            <a:off x="6400800" y="39776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8M+</a:t>
            </a:r>
            <a:endParaRPr lang="en-US" sz="2000"/>
          </a:p>
        </p:txBody>
      </p:sp>
      <p:sp>
        <p:nvSpPr>
          <p:cNvPr id="26" name="Text 24"/>
          <p:cNvSpPr/>
          <p:nvPr/>
        </p:nvSpPr>
        <p:spPr>
          <a:xfrm>
            <a:off x="6492240" y="46177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</a:t>
            </a:r>
            <a:endParaRPr lang="en-US" sz="900"/>
          </a:p>
        </p:txBody>
      </p:sp>
      <p:sp>
        <p:nvSpPr>
          <p:cNvPr id="27" name="Shape 25"/>
          <p:cNvSpPr/>
          <p:nvPr/>
        </p:nvSpPr>
        <p:spPr>
          <a:xfrm>
            <a:off x="8138160" y="3840480"/>
            <a:ext cx="1645920" cy="1371600"/>
          </a:xfrm>
          <a:prstGeom prst="rect">
            <a:avLst/>
          </a:prstGeom>
          <a:solidFill>
            <a:srgbClr val="F4F8EB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28" name="Text 26"/>
          <p:cNvSpPr/>
          <p:nvPr/>
        </p:nvSpPr>
        <p:spPr>
          <a:xfrm>
            <a:off x="8138160" y="39776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</a:t>
            </a:r>
            <a:endParaRPr lang="en-US" sz="2000"/>
          </a:p>
        </p:txBody>
      </p:sp>
      <p:sp>
        <p:nvSpPr>
          <p:cNvPr id="29" name="Text 27"/>
          <p:cNvSpPr/>
          <p:nvPr/>
        </p:nvSpPr>
        <p:spPr>
          <a:xfrm>
            <a:off x="8229600" y="46177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penetration</a:t>
            </a:r>
            <a:endParaRPr lang="en-US" sz="900"/>
          </a:p>
        </p:txBody>
      </p:sp>
      <p:sp>
        <p:nvSpPr>
          <p:cNvPr id="30" name="Shape 28"/>
          <p:cNvSpPr/>
          <p:nvPr/>
        </p:nvSpPr>
        <p:spPr>
          <a:xfrm>
            <a:off x="9875520" y="3840480"/>
            <a:ext cx="1645920" cy="1371600"/>
          </a:xfrm>
          <a:prstGeom prst="rect">
            <a:avLst/>
          </a:prstGeom>
          <a:solidFill>
            <a:srgbClr val="F4F8EB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31" name="Text 29"/>
          <p:cNvSpPr/>
          <p:nvPr/>
        </p:nvSpPr>
        <p:spPr>
          <a:xfrm>
            <a:off x="9875520" y="39776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</a:t>
            </a:r>
            <a:endParaRPr lang="en-US" sz="2000"/>
          </a:p>
        </p:txBody>
      </p:sp>
      <p:sp>
        <p:nvSpPr>
          <p:cNvPr id="32" name="Text 30"/>
          <p:cNvSpPr/>
          <p:nvPr/>
        </p:nvSpPr>
        <p:spPr>
          <a:xfrm>
            <a:off x="9966960" y="46177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food-waste nations per capita</a:t>
            </a:r>
            <a:endParaRPr lang="en-US" sz="900"/>
          </a:p>
        </p:txBody>
      </p:sp>
      <p:sp>
        <p:nvSpPr>
          <p:cNvPr id="33" name="Text 31"/>
          <p:cNvSpPr/>
          <p:nvPr/>
        </p:nvSpPr>
        <p:spPr>
          <a:xfrm>
            <a:off x="45720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ecoBite</a:t>
            </a:r>
            <a:endParaRPr lang="en-US" sz="900"/>
          </a:p>
        </p:txBody>
      </p:sp>
      <p:sp>
        <p:nvSpPr>
          <p:cNvPr id="34" name="Text 32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9E7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leftover</a:t>
            </a:r>
            <a:endParaRPr lang="en-US" sz="7200"/>
          </a:p>
        </p:txBody>
      </p:sp>
      <p:sp>
        <p:nvSpPr>
          <p:cNvPr id="3" name="Text 1"/>
          <p:cNvSpPr/>
          <p:nvPr/>
        </p:nvSpPr>
        <p:spPr>
          <a:xfrm>
            <a:off x="914400" y="246888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i="1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deserves a second chance.</a:t>
            </a:r>
            <a:endParaRPr lang="en-US" sz="7200"/>
          </a:p>
        </p:txBody>
      </p:sp>
      <p:sp>
        <p:nvSpPr>
          <p:cNvPr id="4" name="Text 2"/>
          <p:cNvSpPr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ecoBite today</a:t>
            </a:r>
            <a:endParaRPr lang="en-US" sz="2200"/>
          </a:p>
        </p:txBody>
      </p:sp>
      <p:sp>
        <p:nvSpPr>
          <p:cNvPr id="5" name="Text 3"/>
          <p:cNvSpPr/>
          <p:nvPr/>
        </p:nvSpPr>
        <p:spPr>
          <a:xfrm>
            <a:off x="914400" y="49377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 err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ecobite.app</a:t>
            </a:r>
            <a:r>
              <a:rPr lang="en-US" sz="1400" i="1" dirty="0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   </a:t>
            </a:r>
            <a:r>
              <a:rPr lang="en-US" sz="1400" i="1" dirty="0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r>
              <a:rPr lang="en-US" sz="1400" i="1" dirty="0" err="1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hello@ecobite.app</a:t>
            </a:r>
            <a:r>
              <a:rPr lang="en-US" sz="1400" i="1" dirty="0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@ecobite_my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56692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2800"/>
          </a:p>
        </p:txBody>
      </p:sp>
      <p:sp>
        <p:nvSpPr>
          <p:cNvPr id="7" name="Text 5"/>
          <p:cNvSpPr/>
          <p:nvPr/>
        </p:nvSpPr>
        <p:spPr>
          <a:xfrm>
            <a:off x="10911535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FFF8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1143</Words>
  <Application>Microsoft Office PowerPoint</Application>
  <PresentationFormat>Widescreen</PresentationFormat>
  <Paragraphs>275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ecoBite — Project Presentation</dc:title>
  <dc:subject>PptxGenJS Presentation</dc:subject>
  <dc:creator>ecoBite Team</dc:creator>
  <cp:lastModifiedBy>Foong, Wendy</cp:lastModifiedBy>
  <cp:revision>3</cp:revision>
  <dcterms:created xsi:type="dcterms:W3CDTF">2026-04-30T18:08:39Z</dcterms:created>
  <dcterms:modified xsi:type="dcterms:W3CDTF">2026-05-10T14:32:02Z</dcterms:modified>
</cp:coreProperties>
</file>